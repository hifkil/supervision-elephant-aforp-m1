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76" r:id="rId9"/>
    <p:sldId id="277" r:id="rId10"/>
    <p:sldId id="278" r:id="rId11"/>
    <p:sldId id="279" r:id="rId12"/>
    <p:sldId id="266" r:id="rId13"/>
    <p:sldId id="267" r:id="rId14"/>
    <p:sldId id="268" r:id="rId15"/>
    <p:sldId id="269" r:id="rId16"/>
    <p:sldId id="270" r:id="rId17"/>
    <p:sldId id="271" r:id="rId18"/>
    <p:sldId id="261" r:id="rId19"/>
    <p:sldId id="262" r:id="rId20"/>
    <p:sldId id="272" r:id="rId21"/>
    <p:sldId id="273" r:id="rId22"/>
    <p:sldId id="274" r:id="rId23"/>
    <p:sldId id="275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97EA4E-A967-AD23-FAAE-F6FE09CE3D8F}" v="23" dt="2026-05-22T06:58:39.608"/>
    <p1510:client id="{619B3C9A-3458-1D07-653F-74A9F4DAD452}" v="74" dt="2026-05-21T21:51:07.754"/>
    <p1510:client id="{650B5608-F90D-ADE2-4A95-A85D009E16C1}" v="33" dt="2026-05-21T22:40:24.716"/>
    <p1510:client id="{A5712F03-A0C5-5BB3-EDC2-E8103030801D}" v="222" dt="2026-05-22T06:59:23.140"/>
    <p1510:client id="{ACE7FDF3-7739-AC36-26F0-B13F53D43ED9}" v="20" dt="2026-05-21T13:30:35.906"/>
    <p1510:client id="{B2C6CCBE-718E-430C-14FD-8BF0F8C19C14}" v="5" dt="2026-05-21T21:34:27.1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1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€</c:v>
                </c:pt>
              </c:strCache>
            </c:strRef>
          </c:tx>
          <c:spPr>
            <a:solidFill>
              <a:srgbClr val="E8B33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BBD-4DAF-B7B8-086B4202818C}"/>
              </c:ext>
            </c:extLst>
          </c:dPt>
          <c:dPt>
            <c:idx val="1"/>
            <c:invertIfNegative val="0"/>
            <c:bubble3D val="0"/>
            <c:spPr>
              <a:solidFill>
                <a:srgbClr val="F4CE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BBD-4DAF-B7B8-086B4202818C}"/>
              </c:ext>
            </c:extLst>
          </c:dPt>
          <c:dLbls>
            <c:numFmt formatCode="#,##0\ \€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EAEEF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Première année</c:v>
                </c:pt>
                <c:pt idx="1">
                  <c:v>Récurrent / 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185900</c:v>
                </c:pt>
                <c:pt idx="1">
                  <c:v>70000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BD-4DAF-B7B8-086B420281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AEE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54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8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2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F864C-5080-4730-B61D-3560C8013C9C}" type="datetimeFigureOut">
              <a:t>21/05/2026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166D87-CD0E-41B3-B10C-35D9D3D8DA42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060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68680"/>
            <a:ext cx="502920" cy="502920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868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5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À L'APPEL D'OFFRE ARTEMIS-ELEPHANT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749808" y="2468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Supervision &amp; SIEM Artemis</a:t>
            </a:r>
            <a:endParaRPr lang="en-US" sz="520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>
                <a:solidFill>
                  <a:srgbClr val="C2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comparative, préconisation et prototype opérationnel d'une infrastructure de supervision pour le leader européen des pièces automobiles.</a:t>
            </a:r>
            <a:endParaRPr lang="en-US" sz="1650"/>
          </a:p>
        </p:txBody>
      </p:sp>
      <p:sp>
        <p:nvSpPr>
          <p:cNvPr id="9" name="Text 7"/>
          <p:cNvSpPr/>
          <p:nvPr/>
        </p:nvSpPr>
        <p:spPr>
          <a:xfrm>
            <a:off x="822960" y="61081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Ilies BOUCHOUAREB  ·  Thibault DEMARET  ·  Quentin HUBERT  ·  Harry LU-LEAP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822960" y="4754880"/>
            <a:ext cx="2697480" cy="1051560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754880"/>
            <a:ext cx="2697480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91947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1005840" y="52120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Artemis · Automobile</a:t>
            </a:r>
            <a:endParaRPr lang="en-US" sz="1500"/>
          </a:p>
        </p:txBody>
      </p:sp>
      <p:sp>
        <p:nvSpPr>
          <p:cNvPr id="14" name="Shape 12"/>
          <p:cNvSpPr/>
          <p:nvPr/>
        </p:nvSpPr>
        <p:spPr>
          <a:xfrm>
            <a:off x="3703320" y="4754880"/>
            <a:ext cx="2697480" cy="1051560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03320" y="4754880"/>
            <a:ext cx="2697480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6" name="Text 14"/>
          <p:cNvSpPr/>
          <p:nvPr/>
        </p:nvSpPr>
        <p:spPr>
          <a:xfrm>
            <a:off x="3886200" y="491947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3886200" y="52120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 Docker comparatif</a:t>
            </a:r>
            <a:endParaRPr lang="en-US" sz="1500"/>
          </a:p>
        </p:txBody>
      </p:sp>
      <p:sp>
        <p:nvSpPr>
          <p:cNvPr id="18" name="Shape 16"/>
          <p:cNvSpPr/>
          <p:nvPr/>
        </p:nvSpPr>
        <p:spPr>
          <a:xfrm>
            <a:off x="6583680" y="4754880"/>
            <a:ext cx="2697480" cy="1051560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754880"/>
            <a:ext cx="2697480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491947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TESTÉS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6766560" y="52120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superviseurs</a:t>
            </a:r>
            <a:endParaRPr lang="en-US" sz="1500"/>
          </a:p>
        </p:txBody>
      </p:sp>
      <p:sp>
        <p:nvSpPr>
          <p:cNvPr id="22" name="Shape 20"/>
          <p:cNvSpPr/>
          <p:nvPr/>
        </p:nvSpPr>
        <p:spPr>
          <a:xfrm>
            <a:off x="9464040" y="4754880"/>
            <a:ext cx="2697480" cy="1051560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64040" y="4754880"/>
            <a:ext cx="2697480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24" name="Text 22"/>
          <p:cNvSpPr/>
          <p:nvPr/>
        </p:nvSpPr>
        <p:spPr>
          <a:xfrm>
            <a:off x="9646920" y="491947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RETENU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9646920" y="52120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Hybride open-source</a:t>
            </a:r>
            <a:endParaRPr lang="en-US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SIEM</a:t>
            </a: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50" err="1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démo</a:t>
            </a:r>
            <a:endParaRPr lang="en-US" sz="1050" err="1"/>
          </a:p>
        </p:txBody>
      </p:sp>
      <p:sp>
        <p:nvSpPr>
          <p:cNvPr id="7" name="Text 5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rchitecture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Bechmark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6339535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526054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07899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SOMMAIRE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457200" y="1335024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la présentation</a:t>
            </a:r>
            <a:endParaRPr lang="en-US" sz="3000"/>
          </a:p>
        </p:txBody>
      </p:sp>
      <p:sp>
        <p:nvSpPr>
          <p:cNvPr id="14" name="Text 12"/>
          <p:cNvSpPr/>
          <p:nvPr/>
        </p:nvSpPr>
        <p:spPr>
          <a:xfrm>
            <a:off x="457200" y="19933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complet de notre réponse à l'appel d'offres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Supervision &amp; SIEM · COPROJ 2026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5486400" cy="841248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2514600"/>
            <a:ext cx="868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/>
          </a:p>
        </p:txBody>
      </p:sp>
      <p:sp>
        <p:nvSpPr>
          <p:cNvPr id="19" name="Text 17"/>
          <p:cNvSpPr/>
          <p:nvPr/>
        </p:nvSpPr>
        <p:spPr>
          <a:xfrm>
            <a:off x="1600200" y="2514600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enjeux Artemis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6245352" y="2514600"/>
            <a:ext cx="5486400" cy="841248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73952" y="2514600"/>
            <a:ext cx="868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/>
          </a:p>
        </p:txBody>
      </p:sp>
      <p:sp>
        <p:nvSpPr>
          <p:cNvPr id="22" name="Text 20"/>
          <p:cNvSpPr/>
          <p:nvPr/>
        </p:nvSpPr>
        <p:spPr>
          <a:xfrm>
            <a:off x="7388352" y="2514600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des besoins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5486400" cy="841248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3474720"/>
            <a:ext cx="868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/>
          </a:p>
        </p:txBody>
      </p:sp>
      <p:sp>
        <p:nvSpPr>
          <p:cNvPr id="25" name="Text 23"/>
          <p:cNvSpPr/>
          <p:nvPr/>
        </p:nvSpPr>
        <p:spPr>
          <a:xfrm>
            <a:off x="1600200" y="3474720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: un POC Docker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6245352" y="3474720"/>
            <a:ext cx="5486400" cy="841248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73952" y="3474720"/>
            <a:ext cx="868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/>
          </a:p>
        </p:txBody>
      </p:sp>
      <p:sp>
        <p:nvSpPr>
          <p:cNvPr id="28" name="Text 26"/>
          <p:cNvSpPr/>
          <p:nvPr/>
        </p:nvSpPr>
        <p:spPr>
          <a:xfrm>
            <a:off x="7388352" y="3359701"/>
            <a:ext cx="4206240" cy="8412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1600" b="1" dirty="0">
              <a:solidFill>
                <a:srgbClr val="EAEEF4"/>
              </a:solidFill>
              <a:latin typeface="Calibri"/>
              <a:ea typeface="Calibri"/>
              <a:cs typeface="Calibri"/>
            </a:endParaRPr>
          </a:p>
          <a:p>
            <a:r>
              <a:rPr lang="en-US" sz="1600" b="1" dirty="0">
                <a:solidFill>
                  <a:srgbClr val="EAEEF4"/>
                </a:solidFill>
                <a:latin typeface="Calibri"/>
                <a:ea typeface="Calibri"/>
                <a:cs typeface="Calibri"/>
              </a:rPr>
              <a:t>Architecture &amp; </a:t>
            </a:r>
            <a:r>
              <a:rPr lang="en-US" sz="1600" b="1" dirty="0" err="1">
                <a:solidFill>
                  <a:srgbClr val="EAEEF4"/>
                </a:solidFill>
                <a:latin typeface="Calibri"/>
                <a:ea typeface="Calibri"/>
                <a:cs typeface="Calibri"/>
              </a:rPr>
              <a:t>Métriques</a:t>
            </a:r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5486400" cy="841248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5800" y="4434840"/>
            <a:ext cx="868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/>
          </a:p>
        </p:txBody>
      </p:sp>
      <p:sp>
        <p:nvSpPr>
          <p:cNvPr id="31" name="Text 29"/>
          <p:cNvSpPr/>
          <p:nvPr/>
        </p:nvSpPr>
        <p:spPr>
          <a:xfrm>
            <a:off x="1600200" y="4434840"/>
            <a:ext cx="4206240" cy="8412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 dirty="0">
                <a:solidFill>
                  <a:srgbClr val="EAEEF4"/>
                </a:solidFill>
                <a:latin typeface="Calibri"/>
                <a:ea typeface="Calibri"/>
                <a:cs typeface="Calibri"/>
              </a:rPr>
              <a:t>Benchmark des 5 </a:t>
            </a:r>
            <a:r>
              <a:rPr lang="en-US" sz="1600" b="1">
                <a:solidFill>
                  <a:srgbClr val="EAEEF4"/>
                </a:solidFill>
                <a:latin typeface="Calibri"/>
                <a:ea typeface="Calibri"/>
                <a:cs typeface="Calibri"/>
              </a:rPr>
              <a:t>solutions</a:t>
            </a:r>
            <a:endParaRPr lang="en-US" sz="1600" b="1" dirty="0">
              <a:solidFill>
                <a:srgbClr val="EAEEF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245352" y="4434840"/>
            <a:ext cx="5486400" cy="841248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73952" y="4434840"/>
            <a:ext cx="868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/>
          </a:p>
        </p:txBody>
      </p:sp>
      <p:sp>
        <p:nvSpPr>
          <p:cNvPr id="34" name="Text 32"/>
          <p:cNvSpPr/>
          <p:nvPr/>
        </p:nvSpPr>
        <p:spPr>
          <a:xfrm>
            <a:off x="7388352" y="4434840"/>
            <a:ext cx="4206240" cy="8412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 dirty="0" err="1">
                <a:solidFill>
                  <a:srgbClr val="EAEEF4"/>
                </a:solidFill>
                <a:ea typeface="Calibri"/>
                <a:cs typeface="Calibri"/>
              </a:rPr>
              <a:t>Préconisation</a:t>
            </a:r>
          </a:p>
        </p:txBody>
      </p:sp>
      <p:sp>
        <p:nvSpPr>
          <p:cNvPr id="38" name="Shape 36"/>
          <p:cNvSpPr/>
          <p:nvPr/>
        </p:nvSpPr>
        <p:spPr>
          <a:xfrm>
            <a:off x="3887465" y="5394960"/>
            <a:ext cx="5486400" cy="841248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116065" y="5394960"/>
            <a:ext cx="868680" cy="8412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E8B339"/>
                </a:solidFill>
                <a:latin typeface="Georgia"/>
              </a:rPr>
              <a:t>07</a:t>
            </a:r>
            <a:endParaRPr lang="en-US" sz="3000"/>
          </a:p>
        </p:txBody>
      </p:sp>
      <p:sp>
        <p:nvSpPr>
          <p:cNvPr id="40" name="Text 38"/>
          <p:cNvSpPr/>
          <p:nvPr/>
        </p:nvSpPr>
        <p:spPr>
          <a:xfrm>
            <a:off x="4915446" y="5394960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planning &amp; bilan</a:t>
            </a:r>
            <a:endParaRPr lang="en-US" sz="1600"/>
          </a:p>
        </p:txBody>
      </p:sp>
      <p:sp>
        <p:nvSpPr>
          <p:cNvPr id="41" name="Text 39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02 / 23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SIEM</a:t>
            </a: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6339535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5260543" y="329184"/>
            <a:ext cx="1078992" cy="3291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1" name="Text 9"/>
          <p:cNvSpPr/>
          <p:nvPr/>
        </p:nvSpPr>
        <p:spPr>
          <a:xfrm>
            <a:off x="526054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F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7899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 CLIENT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457200" y="1335024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Artemis, un SI critique en pleine croissance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457200" y="19933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supervision devient indispensable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Supervision &amp; SIEM · COPROJ 2026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5120640" cy="3611880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2743200"/>
            <a:ext cx="685800" cy="685800"/>
          </a:xfrm>
          <a:prstGeom prst="ellipse">
            <a:avLst/>
          </a:prstGeom>
          <a:solidFill>
            <a:srgbClr val="E8B339"/>
          </a:solidFill>
          <a:ln/>
        </p:spPr>
      </p:sp>
      <p:pic>
        <p:nvPicPr>
          <p:cNvPr id="20" name="Image 0" descr="img/g_industry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898648"/>
            <a:ext cx="374904" cy="37490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600200" y="27432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 européen automobile</a:t>
            </a:r>
            <a:endParaRPr lang="en-US" sz="1700"/>
          </a:p>
        </p:txBody>
      </p:sp>
      <p:sp>
        <p:nvSpPr>
          <p:cNvPr id="22" name="Text 19"/>
          <p:cNvSpPr/>
          <p:nvPr/>
        </p:nvSpPr>
        <p:spPr>
          <a:xfrm>
            <a:off x="731520" y="361188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450">
                <a:solidFill>
                  <a:srgbClr val="C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Fabricant de pièces pour l'industrie automobile, présent à l'international, dont le SI se complexifie au rythme de sa croissance.</a:t>
            </a:r>
            <a:endParaRPr lang="en-US" sz="1450"/>
          </a:p>
          <a:p>
            <a:pPr marL="0" indent="0">
              <a:lnSpc>
                <a:spcPct val="110000"/>
              </a:lnSpc>
              <a:buNone/>
            </a:pPr>
            <a:r>
              <a:rPr lang="en-US" sz="1450">
                <a:solidFill>
                  <a:srgbClr val="C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interruption de service a un impact direct sur la production et l'image. La supervision doit être </a:t>
            </a:r>
            <a:r>
              <a:rPr lang="en-US" sz="1450" b="1">
                <a:solidFill>
                  <a:srgbClr val="F4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continue, centralisée et anticipative</a:t>
            </a:r>
            <a:r>
              <a:rPr lang="en-US" sz="1450">
                <a:solidFill>
                  <a:srgbClr val="C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/>
          </a:p>
        </p:txBody>
      </p:sp>
      <p:sp>
        <p:nvSpPr>
          <p:cNvPr id="23" name="Shape 20"/>
          <p:cNvSpPr/>
          <p:nvPr/>
        </p:nvSpPr>
        <p:spPr>
          <a:xfrm>
            <a:off x="5897880" y="2514600"/>
            <a:ext cx="3044952" cy="1115568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897880" y="2514600"/>
            <a:ext cx="73152" cy="1115568"/>
          </a:xfrm>
          <a:prstGeom prst="rect">
            <a:avLst/>
          </a:prstGeom>
          <a:solidFill>
            <a:srgbClr val="E8B339"/>
          </a:solidFill>
          <a:ln/>
        </p:spPr>
      </p:sp>
      <p:pic>
        <p:nvPicPr>
          <p:cNvPr id="25" name="Image 1" descr="img/g_gau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715768"/>
            <a:ext cx="329184" cy="32918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583680" y="2660904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continue</a:t>
            </a:r>
            <a:endParaRPr lang="en-US" sz="1350"/>
          </a:p>
        </p:txBody>
      </p:sp>
      <p:sp>
        <p:nvSpPr>
          <p:cNvPr id="27" name="Text 23"/>
          <p:cNvSpPr/>
          <p:nvPr/>
        </p:nvSpPr>
        <p:spPr>
          <a:xfrm>
            <a:off x="6583680" y="3044952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coupure = pertes directes</a:t>
            </a:r>
            <a:endParaRPr lang="en-US" sz="1150"/>
          </a:p>
        </p:txBody>
      </p:sp>
      <p:sp>
        <p:nvSpPr>
          <p:cNvPr id="28" name="Shape 24"/>
          <p:cNvSpPr/>
          <p:nvPr/>
        </p:nvSpPr>
        <p:spPr>
          <a:xfrm>
            <a:off x="9079992" y="2514600"/>
            <a:ext cx="3044952" cy="1115568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9079992" y="2514600"/>
            <a:ext cx="73152" cy="1115568"/>
          </a:xfrm>
          <a:prstGeom prst="rect">
            <a:avLst/>
          </a:prstGeom>
          <a:solidFill>
            <a:srgbClr val="E8B339"/>
          </a:solidFill>
          <a:ln/>
        </p:spPr>
      </p:sp>
      <p:pic>
        <p:nvPicPr>
          <p:cNvPr id="30" name="Image 2" descr="img/g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92" y="2715768"/>
            <a:ext cx="329184" cy="32918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765792" y="2660904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Croissance rapide</a:t>
            </a:r>
            <a:endParaRPr lang="en-US" sz="1350"/>
          </a:p>
        </p:txBody>
      </p:sp>
      <p:sp>
        <p:nvSpPr>
          <p:cNvPr id="32" name="Text 27"/>
          <p:cNvSpPr/>
          <p:nvPr/>
        </p:nvSpPr>
        <p:spPr>
          <a:xfrm>
            <a:off x="9765792" y="3044952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scalable et observable</a:t>
            </a:r>
            <a:endParaRPr lang="en-US" sz="1150"/>
          </a:p>
        </p:txBody>
      </p:sp>
      <p:sp>
        <p:nvSpPr>
          <p:cNvPr id="33" name="Shape 28"/>
          <p:cNvSpPr/>
          <p:nvPr/>
        </p:nvSpPr>
        <p:spPr>
          <a:xfrm>
            <a:off x="5897880" y="3767328"/>
            <a:ext cx="3044952" cy="1115568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5897880" y="3767328"/>
            <a:ext cx="73152" cy="1115568"/>
          </a:xfrm>
          <a:prstGeom prst="rect">
            <a:avLst/>
          </a:prstGeom>
          <a:solidFill>
            <a:srgbClr val="E8B339"/>
          </a:solidFill>
          <a:ln/>
        </p:spPr>
      </p:sp>
      <p:pic>
        <p:nvPicPr>
          <p:cNvPr id="35" name="Image 3" descr="img/g_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968496"/>
            <a:ext cx="329184" cy="32918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583680" y="3913632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Cybersécurité</a:t>
            </a:r>
            <a:endParaRPr lang="en-US" sz="1350"/>
          </a:p>
        </p:txBody>
      </p:sp>
      <p:sp>
        <p:nvSpPr>
          <p:cNvPr id="37" name="Text 31"/>
          <p:cNvSpPr/>
          <p:nvPr/>
        </p:nvSpPr>
        <p:spPr>
          <a:xfrm>
            <a:off x="6583680" y="429768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précoce via SIEM</a:t>
            </a:r>
            <a:endParaRPr lang="en-US" sz="1150"/>
          </a:p>
        </p:txBody>
      </p:sp>
      <p:sp>
        <p:nvSpPr>
          <p:cNvPr id="38" name="Shape 32"/>
          <p:cNvSpPr/>
          <p:nvPr/>
        </p:nvSpPr>
        <p:spPr>
          <a:xfrm>
            <a:off x="9079992" y="3767328"/>
            <a:ext cx="3044952" cy="1115568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9079992" y="3767328"/>
            <a:ext cx="73152" cy="1115568"/>
          </a:xfrm>
          <a:prstGeom prst="rect">
            <a:avLst/>
          </a:prstGeom>
          <a:solidFill>
            <a:srgbClr val="E8B339"/>
          </a:solidFill>
          <a:ln/>
        </p:spPr>
      </p:sp>
      <p:pic>
        <p:nvPicPr>
          <p:cNvPr id="40" name="Image 4" descr="img/g_cli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8592" y="3968496"/>
            <a:ext cx="329184" cy="32918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765792" y="3913632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Conformité &amp; audit</a:t>
            </a:r>
            <a:endParaRPr lang="en-US" sz="1350"/>
          </a:p>
        </p:txBody>
      </p:sp>
      <p:sp>
        <p:nvSpPr>
          <p:cNvPr id="42" name="Text 35"/>
          <p:cNvSpPr/>
          <p:nvPr/>
        </p:nvSpPr>
        <p:spPr>
          <a:xfrm>
            <a:off x="9765792" y="429768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centralisés, traçables</a:t>
            </a:r>
            <a:endParaRPr lang="en-US" sz="1150"/>
          </a:p>
        </p:txBody>
      </p:sp>
      <p:sp>
        <p:nvSpPr>
          <p:cNvPr id="43" name="Shape 36"/>
          <p:cNvSpPr/>
          <p:nvPr/>
        </p:nvSpPr>
        <p:spPr>
          <a:xfrm>
            <a:off x="5897880" y="5020056"/>
            <a:ext cx="3044952" cy="1115568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5897880" y="5020056"/>
            <a:ext cx="73152" cy="1115568"/>
          </a:xfrm>
          <a:prstGeom prst="rect">
            <a:avLst/>
          </a:prstGeom>
          <a:solidFill>
            <a:srgbClr val="E8B339"/>
          </a:solidFill>
          <a:ln/>
        </p:spPr>
      </p:sp>
      <p:pic>
        <p:nvPicPr>
          <p:cNvPr id="45" name="Image 5" descr="img/g_us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5221224"/>
            <a:ext cx="329184" cy="329184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583680" y="5166360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Équipe IT efficace</a:t>
            </a:r>
            <a:endParaRPr lang="en-US" sz="1350"/>
          </a:p>
        </p:txBody>
      </p:sp>
      <p:sp>
        <p:nvSpPr>
          <p:cNvPr id="47" name="Text 39"/>
          <p:cNvSpPr/>
          <p:nvPr/>
        </p:nvSpPr>
        <p:spPr>
          <a:xfrm>
            <a:off x="6583680" y="5550408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tâches répétitives</a:t>
            </a:r>
            <a:endParaRPr lang="en-US" sz="1150"/>
          </a:p>
        </p:txBody>
      </p:sp>
      <p:sp>
        <p:nvSpPr>
          <p:cNvPr id="48" name="Text 40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03 / 23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SIEM</a:t>
            </a: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6339535" y="329184"/>
            <a:ext cx="1078992" cy="3291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0" name="Text 8"/>
          <p:cNvSpPr/>
          <p:nvPr/>
        </p:nvSpPr>
        <p:spPr>
          <a:xfrm>
            <a:off x="6339535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F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26054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7899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EXPRESSION DES BESOINS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457200" y="1335024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demande le RSI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457200" y="19933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exigences fonctionnelles traduites en objectifs techniques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Supervision &amp; SIEM · COPROJ 2026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3657600" cy="1572768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2770632"/>
            <a:ext cx="640080" cy="640080"/>
          </a:xfrm>
          <a:prstGeom prst="ellipse">
            <a:avLst/>
          </a:prstGeom>
          <a:solidFill>
            <a:srgbClr val="E8B339"/>
          </a:solidFill>
          <a:ln/>
        </p:spPr>
      </p:sp>
      <p:pic>
        <p:nvPicPr>
          <p:cNvPr id="20" name="Image 0" descr="img/g_gauge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926080"/>
            <a:ext cx="329184" cy="32918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13232" y="3483864"/>
            <a:ext cx="3145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Supervision temps réel</a:t>
            </a:r>
            <a:endParaRPr lang="en-US" sz="1500"/>
          </a:p>
        </p:txBody>
      </p:sp>
      <p:sp>
        <p:nvSpPr>
          <p:cNvPr id="22" name="Text 19"/>
          <p:cNvSpPr/>
          <p:nvPr/>
        </p:nvSpPr>
        <p:spPr>
          <a:xfrm>
            <a:off x="713232" y="3794760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UP/DOWN des services et hôtes</a:t>
            </a:r>
            <a:endParaRPr lang="en-US" sz="1150"/>
          </a:p>
        </p:txBody>
      </p:sp>
      <p:sp>
        <p:nvSpPr>
          <p:cNvPr id="23" name="Shape 20"/>
          <p:cNvSpPr/>
          <p:nvPr/>
        </p:nvSpPr>
        <p:spPr>
          <a:xfrm>
            <a:off x="4261104" y="2514600"/>
            <a:ext cx="3657600" cy="1572768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17136" y="2770632"/>
            <a:ext cx="640080" cy="640080"/>
          </a:xfrm>
          <a:prstGeom prst="ellipse">
            <a:avLst/>
          </a:prstGeom>
          <a:solidFill>
            <a:srgbClr val="E8B339"/>
          </a:solidFill>
          <a:ln/>
        </p:spPr>
      </p:sp>
      <p:pic>
        <p:nvPicPr>
          <p:cNvPr id="25" name="Image 1" descr="img/g_chart_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2926080"/>
            <a:ext cx="329184" cy="32918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517136" y="3483864"/>
            <a:ext cx="3145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Métrologie</a:t>
            </a:r>
            <a:endParaRPr lang="en-US" sz="1500"/>
          </a:p>
        </p:txBody>
      </p:sp>
      <p:sp>
        <p:nvSpPr>
          <p:cNvPr id="27" name="Text 23"/>
          <p:cNvSpPr/>
          <p:nvPr/>
        </p:nvSpPr>
        <p:spPr>
          <a:xfrm>
            <a:off x="4517136" y="3794760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disque, réseau avec historique</a:t>
            </a:r>
            <a:endParaRPr lang="en-US" sz="1150"/>
          </a:p>
        </p:txBody>
      </p:sp>
      <p:sp>
        <p:nvSpPr>
          <p:cNvPr id="28" name="Shape 24"/>
          <p:cNvSpPr/>
          <p:nvPr/>
        </p:nvSpPr>
        <p:spPr>
          <a:xfrm>
            <a:off x="8065008" y="2514600"/>
            <a:ext cx="3657600" cy="1572768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321040" y="2770632"/>
            <a:ext cx="640080" cy="640080"/>
          </a:xfrm>
          <a:prstGeom prst="ellipse">
            <a:avLst/>
          </a:prstGeom>
          <a:solidFill>
            <a:srgbClr val="E8B339"/>
          </a:solidFill>
          <a:ln/>
        </p:spPr>
      </p:sp>
      <p:pic>
        <p:nvPicPr>
          <p:cNvPr id="30" name="Image 2" descr="img/g_bell_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2926080"/>
            <a:ext cx="329184" cy="32918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321040" y="3483864"/>
            <a:ext cx="3145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Alerting</a:t>
            </a:r>
            <a:endParaRPr lang="en-US" sz="1500"/>
          </a:p>
        </p:txBody>
      </p:sp>
      <p:sp>
        <p:nvSpPr>
          <p:cNvPr id="32" name="Text 27"/>
          <p:cNvSpPr/>
          <p:nvPr/>
        </p:nvSpPr>
        <p:spPr>
          <a:xfrm>
            <a:off x="8321040" y="3794760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Seuils, notifications, respect des SLA</a:t>
            </a:r>
            <a:endParaRPr lang="en-US" sz="1150"/>
          </a:p>
        </p:txBody>
      </p:sp>
      <p:sp>
        <p:nvSpPr>
          <p:cNvPr id="33" name="Shape 28"/>
          <p:cNvSpPr/>
          <p:nvPr/>
        </p:nvSpPr>
        <p:spPr>
          <a:xfrm>
            <a:off x="457200" y="4270248"/>
            <a:ext cx="3657600" cy="1572768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713232" y="4526280"/>
            <a:ext cx="640080" cy="640080"/>
          </a:xfrm>
          <a:prstGeom prst="ellipse">
            <a:avLst/>
          </a:prstGeom>
          <a:solidFill>
            <a:srgbClr val="E8B339"/>
          </a:solidFill>
          <a:ln/>
        </p:spPr>
      </p:sp>
      <p:pic>
        <p:nvPicPr>
          <p:cNvPr id="35" name="Image 3" descr="img/g_stream_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681728"/>
            <a:ext cx="329184" cy="32918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13232" y="5239512"/>
            <a:ext cx="3145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Centralisation des logs</a:t>
            </a:r>
            <a:endParaRPr lang="en-US" sz="1500"/>
          </a:p>
        </p:txBody>
      </p:sp>
      <p:sp>
        <p:nvSpPr>
          <p:cNvPr id="37" name="Text 31"/>
          <p:cNvSpPr/>
          <p:nvPr/>
        </p:nvSpPr>
        <p:spPr>
          <a:xfrm>
            <a:off x="713232" y="555040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et indexation systèmes &amp; applicatifs</a:t>
            </a:r>
            <a:endParaRPr lang="en-US" sz="1150"/>
          </a:p>
        </p:txBody>
      </p:sp>
      <p:sp>
        <p:nvSpPr>
          <p:cNvPr id="38" name="Shape 32"/>
          <p:cNvSpPr/>
          <p:nvPr/>
        </p:nvSpPr>
        <p:spPr>
          <a:xfrm>
            <a:off x="4261104" y="4270248"/>
            <a:ext cx="3657600" cy="1572768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4517136" y="4526280"/>
            <a:ext cx="640080" cy="640080"/>
          </a:xfrm>
          <a:prstGeom prst="ellipse">
            <a:avLst/>
          </a:prstGeom>
          <a:solidFill>
            <a:srgbClr val="E8B339"/>
          </a:solidFill>
          <a:ln/>
        </p:spPr>
      </p:sp>
      <p:pic>
        <p:nvPicPr>
          <p:cNvPr id="40" name="Image 4" descr="img/g_insights_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4" y="4681728"/>
            <a:ext cx="329184" cy="32918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4517136" y="5239512"/>
            <a:ext cx="3145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Tableaux de bord</a:t>
            </a:r>
            <a:endParaRPr lang="en-US" sz="1500"/>
          </a:p>
        </p:txBody>
      </p:sp>
      <p:sp>
        <p:nvSpPr>
          <p:cNvPr id="42" name="Text 35"/>
          <p:cNvSpPr/>
          <p:nvPr/>
        </p:nvSpPr>
        <p:spPr>
          <a:xfrm>
            <a:off x="4517136" y="555040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exploitables par les équipes IT</a:t>
            </a:r>
            <a:endParaRPr lang="en-US" sz="1150"/>
          </a:p>
        </p:txBody>
      </p:sp>
      <p:sp>
        <p:nvSpPr>
          <p:cNvPr id="43" name="Shape 36"/>
          <p:cNvSpPr/>
          <p:nvPr/>
        </p:nvSpPr>
        <p:spPr>
          <a:xfrm>
            <a:off x="8065008" y="4270248"/>
            <a:ext cx="3657600" cy="1572768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8321040" y="4526280"/>
            <a:ext cx="640080" cy="640080"/>
          </a:xfrm>
          <a:prstGeom prst="ellipse">
            <a:avLst/>
          </a:prstGeom>
          <a:solidFill>
            <a:srgbClr val="E8B339"/>
          </a:solidFill>
          <a:ln/>
        </p:spPr>
      </p:sp>
      <p:pic>
        <p:nvPicPr>
          <p:cNvPr id="45" name="Image 5" descr="img/g_clip_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6488" y="4681728"/>
            <a:ext cx="329184" cy="329184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8321040" y="5239512"/>
            <a:ext cx="3145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 &amp; ITSM</a:t>
            </a:r>
            <a:endParaRPr lang="en-US" sz="1500"/>
          </a:p>
        </p:txBody>
      </p:sp>
      <p:sp>
        <p:nvSpPr>
          <p:cNvPr id="47" name="Text 39"/>
          <p:cNvSpPr/>
          <p:nvPr/>
        </p:nvSpPr>
        <p:spPr>
          <a:xfrm>
            <a:off x="8321040" y="555040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direction, gestion de parc</a:t>
            </a:r>
            <a:endParaRPr lang="en-US" sz="1150"/>
          </a:p>
        </p:txBody>
      </p:sp>
      <p:sp>
        <p:nvSpPr>
          <p:cNvPr id="48" name="Text 40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04 / 23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SIEM</a:t>
            </a: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9" name="Text 7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F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6339535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26054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7899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DÉMARCHE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457200" y="1335024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POC Docker représentatif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457200" y="19933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L'architecture Artemis reconstruite pour comparer les outils à conditions identiques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Supervision &amp; SIEM · COPROJ 2026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5852160" cy="3611880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9" name="Image 0" descr="img/g_do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0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80160" y="2743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socle, tous les superviseurs</a:t>
            </a:r>
            <a:endParaRPr lang="en-US" sz="1700"/>
          </a:p>
        </p:txBody>
      </p:sp>
      <p:sp>
        <p:nvSpPr>
          <p:cNvPr id="21" name="Text 18"/>
          <p:cNvSpPr/>
          <p:nvPr/>
        </p:nvSpPr>
        <p:spPr>
          <a:xfrm>
            <a:off x="731520" y="33832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/>
          </a:p>
        </p:txBody>
      </p:sp>
      <p:sp>
        <p:nvSpPr>
          <p:cNvPr id="22" name="Text 19"/>
          <p:cNvSpPr/>
          <p:nvPr/>
        </p:nvSpPr>
        <p:spPr>
          <a:xfrm>
            <a:off x="1371600" y="33832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4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Reconstruire</a:t>
            </a:r>
            <a:endParaRPr lang="en-US" sz="1400"/>
          </a:p>
        </p:txBody>
      </p:sp>
      <p:sp>
        <p:nvSpPr>
          <p:cNvPr id="23" name="Text 20"/>
          <p:cNvSpPr/>
          <p:nvPr/>
        </p:nvSpPr>
        <p:spPr>
          <a:xfrm>
            <a:off x="1371600" y="3657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HAProxy, 2 Nginx, PostgreSQL primaire/réplique, GLPI, SFTP/NFS, sauvegardes</a:t>
            </a:r>
            <a:endParaRPr lang="en-US" sz="1150"/>
          </a:p>
        </p:txBody>
      </p:sp>
      <p:sp>
        <p:nvSpPr>
          <p:cNvPr id="24" name="Text 21"/>
          <p:cNvSpPr/>
          <p:nvPr/>
        </p:nvSpPr>
        <p:spPr>
          <a:xfrm>
            <a:off x="731520" y="404164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/>
          </a:p>
        </p:txBody>
      </p:sp>
      <p:sp>
        <p:nvSpPr>
          <p:cNvPr id="25" name="Text 22"/>
          <p:cNvSpPr/>
          <p:nvPr/>
        </p:nvSpPr>
        <p:spPr>
          <a:xfrm>
            <a:off x="1371600" y="404164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4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</a:t>
            </a:r>
            <a:endParaRPr lang="en-US" sz="1400"/>
          </a:p>
        </p:txBody>
      </p:sp>
      <p:sp>
        <p:nvSpPr>
          <p:cNvPr id="26" name="Text 23"/>
          <p:cNvSpPr/>
          <p:nvPr/>
        </p:nvSpPr>
        <p:spPr>
          <a:xfrm>
            <a:off x="1371600" y="43159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Zabbix, Nagios, Prometheus/Grafana, Graylog, Splunk sur le même lab</a:t>
            </a:r>
            <a:endParaRPr lang="en-US" sz="1150"/>
          </a:p>
        </p:txBody>
      </p:sp>
      <p:sp>
        <p:nvSpPr>
          <p:cNvPr id="27" name="Text 24"/>
          <p:cNvSpPr/>
          <p:nvPr/>
        </p:nvSpPr>
        <p:spPr>
          <a:xfrm>
            <a:off x="731520" y="470001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/>
          </a:p>
        </p:txBody>
      </p:sp>
      <p:sp>
        <p:nvSpPr>
          <p:cNvPr id="28" name="Text 25"/>
          <p:cNvSpPr/>
          <p:nvPr/>
        </p:nvSpPr>
        <p:spPr>
          <a:xfrm>
            <a:off x="1371600" y="470001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4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</a:t>
            </a:r>
            <a:endParaRPr lang="en-US" sz="1400"/>
          </a:p>
        </p:txBody>
      </p:sp>
      <p:sp>
        <p:nvSpPr>
          <p:cNvPr id="29" name="Text 26"/>
          <p:cNvSpPr/>
          <p:nvPr/>
        </p:nvSpPr>
        <p:spPr>
          <a:xfrm>
            <a:off x="1371600" y="49743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sur critères communs et scénarios de panne rejouables</a:t>
            </a:r>
            <a:endParaRPr lang="en-US" sz="1150"/>
          </a:p>
        </p:txBody>
      </p:sp>
      <p:sp>
        <p:nvSpPr>
          <p:cNvPr id="30" name="Text 27"/>
          <p:cNvSpPr/>
          <p:nvPr/>
        </p:nvSpPr>
        <p:spPr>
          <a:xfrm>
            <a:off x="731520" y="535838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/>
          </a:p>
        </p:txBody>
      </p:sp>
      <p:sp>
        <p:nvSpPr>
          <p:cNvPr id="31" name="Text 28"/>
          <p:cNvSpPr/>
          <p:nvPr/>
        </p:nvSpPr>
        <p:spPr>
          <a:xfrm>
            <a:off x="1371600" y="535838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4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Préconiser</a:t>
            </a:r>
            <a:endParaRPr lang="en-US" sz="1400"/>
          </a:p>
        </p:txBody>
      </p:sp>
      <p:sp>
        <p:nvSpPr>
          <p:cNvPr id="32" name="Text 29"/>
          <p:cNvSpPr/>
          <p:nvPr/>
        </p:nvSpPr>
        <p:spPr>
          <a:xfrm>
            <a:off x="1371600" y="56327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de la combinaison la plus pertinente pour Artemis</a:t>
            </a:r>
            <a:endParaRPr lang="en-US" sz="1150"/>
          </a:p>
        </p:txBody>
      </p:sp>
      <p:sp>
        <p:nvSpPr>
          <p:cNvPr id="33" name="Shape 30"/>
          <p:cNvSpPr/>
          <p:nvPr/>
        </p:nvSpPr>
        <p:spPr>
          <a:xfrm>
            <a:off x="7762986" y="2459736"/>
            <a:ext cx="2762027" cy="3721608"/>
          </a:xfrm>
          <a:prstGeom prst="rect">
            <a:avLst/>
          </a:prstGeom>
          <a:solidFill>
            <a:srgbClr val="1A2230"/>
          </a:solidFill>
          <a:ln w="15875">
            <a:solidFill>
              <a:srgbClr val="E8B339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4" name="Image 1" descr="shots/upbui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850" y="2514600"/>
            <a:ext cx="2652299" cy="361188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817850" y="6236208"/>
            <a:ext cx="26522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./up.sh --build — déploiement de la stack complète (56 conteneurs)</a:t>
            </a:r>
            <a:endParaRPr lang="en-US" sz="1100"/>
          </a:p>
        </p:txBody>
      </p:sp>
      <p:sp>
        <p:nvSpPr>
          <p:cNvPr id="36" name="Text 32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/>
            <a:r>
              <a:rPr lang="en-US" sz="9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05 / 23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SIEM</a:t>
            </a: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8" name="Text 6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F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6339535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26054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78992"/>
            <a:ext cx="1005840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 kern="0" spc="200">
                <a:solidFill>
                  <a:srgbClr val="E8B339"/>
                </a:solidFill>
                <a:latin typeface="Calibri"/>
                <a:ea typeface="Calibri"/>
                <a:cs typeface="Calibri"/>
              </a:rPr>
              <a:t>04 - ARCHITECTURE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1335024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globale du flux de supervision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7367303" y="1504933"/>
            <a:ext cx="4369581" cy="417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blocs : Supervision · Services applicatifs · Logs / SIEM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Supervision &amp; SIEM · COPROJ 2026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915443" y="1918243"/>
            <a:ext cx="10070436" cy="4314405"/>
          </a:xfrm>
          <a:prstGeom prst="rect">
            <a:avLst/>
          </a:prstGeom>
          <a:solidFill>
            <a:srgbClr val="FFFFFF"/>
          </a:solidFill>
          <a:ln w="15875">
            <a:solidFill>
              <a:srgbClr val="E8B339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9" name="Image 0" descr="img/archi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840" y="1308307"/>
            <a:ext cx="9766550" cy="551897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06 / 23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SIEM</a:t>
            </a: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8" name="Text 6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F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6339535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26054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78992"/>
            <a:ext cx="1005840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 kern="0" spc="200">
                <a:solidFill>
                  <a:srgbClr val="E8B339"/>
                </a:solidFill>
                <a:latin typeface="Calibri"/>
                <a:ea typeface="Calibri"/>
                <a:cs typeface="Calibri"/>
              </a:rPr>
              <a:t>04 · MÉTRIQUES &amp; SEUILS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1335024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contrat de supervision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457200" y="19933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surveillé, et quand l'état passe en WARNING ou CRITICAL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Supervision &amp; SIEM · COPROJ 2026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5212080" cy="3611880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2743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Logique d'alerte par seuils</a:t>
            </a:r>
            <a:endParaRPr lang="en-US" sz="1700"/>
          </a:p>
        </p:txBody>
      </p:sp>
      <p:sp>
        <p:nvSpPr>
          <p:cNvPr id="20" name="Shape 18"/>
          <p:cNvSpPr/>
          <p:nvPr/>
        </p:nvSpPr>
        <p:spPr>
          <a:xfrm>
            <a:off x="731520" y="3200400"/>
            <a:ext cx="274320" cy="713232"/>
          </a:xfrm>
          <a:prstGeom prst="rect">
            <a:avLst/>
          </a:prstGeom>
          <a:solidFill>
            <a:srgbClr val="3FB6A8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320040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1143000" y="3493008"/>
            <a:ext cx="4297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C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nominal, dans les seuils définis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731520" y="4041648"/>
            <a:ext cx="274320" cy="713232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404164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1143000" y="4334256"/>
            <a:ext cx="4297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C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d'avertissement franchi — à surveiller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731520" y="4882896"/>
            <a:ext cx="274320" cy="713232"/>
          </a:xfrm>
          <a:prstGeom prst="rect">
            <a:avLst/>
          </a:prstGeom>
          <a:solidFill>
            <a:srgbClr val="E5654B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488289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56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1143000" y="5175504"/>
            <a:ext cx="4297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C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requise — impact ou indisponibilité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731520" y="574243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F4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</a:t>
            </a:r>
            <a:r>
              <a:rPr lang="en-US" sz="110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exporters Prometheus, Blackbox (HTTP/TCP/ICMP), checks Nagios, checks simples Zabbix.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5897880" y="2514600"/>
            <a:ext cx="3044952" cy="1709928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743200"/>
            <a:ext cx="548640" cy="548640"/>
          </a:xfrm>
          <a:prstGeom prst="ellipse">
            <a:avLst/>
          </a:prstGeom>
          <a:solidFill>
            <a:srgbClr val="E8B339"/>
          </a:solidFill>
          <a:ln/>
        </p:spPr>
      </p:sp>
      <p:pic>
        <p:nvPicPr>
          <p:cNvPr id="32" name="Image 0" descr="img/g_gauge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2862072"/>
            <a:ext cx="310896" cy="310896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812280" y="2770632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CPU conteneur</a:t>
            </a:r>
            <a:endParaRPr lang="en-US" sz="1350"/>
          </a:p>
        </p:txBody>
      </p:sp>
      <p:sp>
        <p:nvSpPr>
          <p:cNvPr id="34" name="Shape 31"/>
          <p:cNvSpPr/>
          <p:nvPr/>
        </p:nvSpPr>
        <p:spPr>
          <a:xfrm>
            <a:off x="6126480" y="3429000"/>
            <a:ext cx="146304" cy="146304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35" name="Text 32"/>
          <p:cNvSpPr/>
          <p:nvPr/>
        </p:nvSpPr>
        <p:spPr>
          <a:xfrm>
            <a:off x="6355080" y="3364992"/>
            <a:ext cx="2404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 </a:t>
            </a:r>
            <a:r>
              <a:rPr lang="en-US" sz="1150">
                <a:solidFill>
                  <a:srgbClr val="C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80% / 5 min</a:t>
            </a:r>
            <a:endParaRPr lang="en-US" sz="1150"/>
          </a:p>
        </p:txBody>
      </p:sp>
      <p:sp>
        <p:nvSpPr>
          <p:cNvPr id="36" name="Shape 33"/>
          <p:cNvSpPr/>
          <p:nvPr/>
        </p:nvSpPr>
        <p:spPr>
          <a:xfrm>
            <a:off x="6126480" y="3794760"/>
            <a:ext cx="146304" cy="146304"/>
          </a:xfrm>
          <a:prstGeom prst="rect">
            <a:avLst/>
          </a:prstGeom>
          <a:solidFill>
            <a:srgbClr val="E5654B"/>
          </a:solidFill>
          <a:ln/>
        </p:spPr>
      </p:sp>
      <p:sp>
        <p:nvSpPr>
          <p:cNvPr id="37" name="Text 34"/>
          <p:cNvSpPr/>
          <p:nvPr/>
        </p:nvSpPr>
        <p:spPr>
          <a:xfrm>
            <a:off x="6355080" y="3730752"/>
            <a:ext cx="2404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56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</a:t>
            </a:r>
            <a:r>
              <a:rPr lang="en-US" sz="1150">
                <a:solidFill>
                  <a:srgbClr val="C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90% / 5 min</a:t>
            </a:r>
            <a:endParaRPr lang="en-US" sz="1150"/>
          </a:p>
        </p:txBody>
      </p:sp>
      <p:sp>
        <p:nvSpPr>
          <p:cNvPr id="38" name="Shape 35"/>
          <p:cNvSpPr/>
          <p:nvPr/>
        </p:nvSpPr>
        <p:spPr>
          <a:xfrm>
            <a:off x="9079992" y="2514600"/>
            <a:ext cx="3044952" cy="1709928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9308592" y="2743200"/>
            <a:ext cx="548640" cy="548640"/>
          </a:xfrm>
          <a:prstGeom prst="ellipse">
            <a:avLst/>
          </a:prstGeom>
          <a:solidFill>
            <a:srgbClr val="E8B339"/>
          </a:solidFill>
          <a:ln/>
        </p:spPr>
      </p:sp>
      <p:pic>
        <p:nvPicPr>
          <p:cNvPr id="40" name="Image 1" descr="img/g_server_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464" y="2862072"/>
            <a:ext cx="310896" cy="310896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9994392" y="2770632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Mémoire conteneur</a:t>
            </a:r>
            <a:endParaRPr lang="en-US" sz="1350"/>
          </a:p>
        </p:txBody>
      </p:sp>
      <p:sp>
        <p:nvSpPr>
          <p:cNvPr id="42" name="Shape 38"/>
          <p:cNvSpPr/>
          <p:nvPr/>
        </p:nvSpPr>
        <p:spPr>
          <a:xfrm>
            <a:off x="9308592" y="3429000"/>
            <a:ext cx="146304" cy="146304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43" name="Text 39"/>
          <p:cNvSpPr/>
          <p:nvPr/>
        </p:nvSpPr>
        <p:spPr>
          <a:xfrm>
            <a:off x="9537192" y="3364992"/>
            <a:ext cx="2404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 </a:t>
            </a:r>
            <a:r>
              <a:rPr lang="en-US" sz="1150">
                <a:solidFill>
                  <a:srgbClr val="C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80% / 5 min</a:t>
            </a:r>
            <a:endParaRPr lang="en-US" sz="1150"/>
          </a:p>
        </p:txBody>
      </p:sp>
      <p:sp>
        <p:nvSpPr>
          <p:cNvPr id="44" name="Shape 40"/>
          <p:cNvSpPr/>
          <p:nvPr/>
        </p:nvSpPr>
        <p:spPr>
          <a:xfrm>
            <a:off x="9308592" y="3794760"/>
            <a:ext cx="146304" cy="146304"/>
          </a:xfrm>
          <a:prstGeom prst="rect">
            <a:avLst/>
          </a:prstGeom>
          <a:solidFill>
            <a:srgbClr val="E5654B"/>
          </a:solidFill>
          <a:ln/>
        </p:spPr>
      </p:sp>
      <p:sp>
        <p:nvSpPr>
          <p:cNvPr id="45" name="Text 41"/>
          <p:cNvSpPr/>
          <p:nvPr/>
        </p:nvSpPr>
        <p:spPr>
          <a:xfrm>
            <a:off x="9537192" y="3730752"/>
            <a:ext cx="2404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56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</a:t>
            </a:r>
            <a:r>
              <a:rPr lang="en-US" sz="1150">
                <a:solidFill>
                  <a:srgbClr val="C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90% / 5 min</a:t>
            </a:r>
            <a:endParaRPr lang="en-US" sz="1150"/>
          </a:p>
        </p:txBody>
      </p:sp>
      <p:sp>
        <p:nvSpPr>
          <p:cNvPr id="46" name="Shape 42"/>
          <p:cNvSpPr/>
          <p:nvPr/>
        </p:nvSpPr>
        <p:spPr>
          <a:xfrm>
            <a:off x="5897880" y="4361688"/>
            <a:ext cx="3044952" cy="1709928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7" name="Shape 43"/>
          <p:cNvSpPr/>
          <p:nvPr/>
        </p:nvSpPr>
        <p:spPr>
          <a:xfrm>
            <a:off x="6126480" y="4590288"/>
            <a:ext cx="548640" cy="548640"/>
          </a:xfrm>
          <a:prstGeom prst="ellipse">
            <a:avLst/>
          </a:prstGeom>
          <a:solidFill>
            <a:srgbClr val="E8B339"/>
          </a:solidFill>
          <a:ln/>
        </p:spPr>
      </p:sp>
      <p:pic>
        <p:nvPicPr>
          <p:cNvPr id="48" name="Image 2" descr="img/g_check_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4709160"/>
            <a:ext cx="310896" cy="310896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6812280" y="461772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Disponibilité service</a:t>
            </a:r>
            <a:endParaRPr lang="en-US" sz="1350"/>
          </a:p>
        </p:txBody>
      </p:sp>
      <p:sp>
        <p:nvSpPr>
          <p:cNvPr id="50" name="Shape 45"/>
          <p:cNvSpPr/>
          <p:nvPr/>
        </p:nvSpPr>
        <p:spPr>
          <a:xfrm>
            <a:off x="6126480" y="5276088"/>
            <a:ext cx="146304" cy="146304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51" name="Text 46"/>
          <p:cNvSpPr/>
          <p:nvPr/>
        </p:nvSpPr>
        <p:spPr>
          <a:xfrm>
            <a:off x="6355080" y="5212080"/>
            <a:ext cx="2404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 </a:t>
            </a:r>
            <a:r>
              <a:rPr lang="en-US" sz="1150">
                <a:solidFill>
                  <a:srgbClr val="C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sonde échouée</a:t>
            </a:r>
            <a:endParaRPr lang="en-US" sz="1150"/>
          </a:p>
        </p:txBody>
      </p:sp>
      <p:sp>
        <p:nvSpPr>
          <p:cNvPr id="52" name="Shape 47"/>
          <p:cNvSpPr/>
          <p:nvPr/>
        </p:nvSpPr>
        <p:spPr>
          <a:xfrm>
            <a:off x="6126480" y="5641848"/>
            <a:ext cx="146304" cy="146304"/>
          </a:xfrm>
          <a:prstGeom prst="rect">
            <a:avLst/>
          </a:prstGeom>
          <a:solidFill>
            <a:srgbClr val="E5654B"/>
          </a:solidFill>
          <a:ln/>
        </p:spPr>
      </p:sp>
      <p:sp>
        <p:nvSpPr>
          <p:cNvPr id="53" name="Text 48"/>
          <p:cNvSpPr/>
          <p:nvPr/>
        </p:nvSpPr>
        <p:spPr>
          <a:xfrm>
            <a:off x="6355080" y="5577840"/>
            <a:ext cx="2404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56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</a:t>
            </a:r>
            <a:r>
              <a:rPr lang="en-US" sz="1150">
                <a:solidFill>
                  <a:srgbClr val="C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échec ≥ 1 min</a:t>
            </a:r>
            <a:endParaRPr lang="en-US" sz="1150"/>
          </a:p>
        </p:txBody>
      </p:sp>
      <p:sp>
        <p:nvSpPr>
          <p:cNvPr id="54" name="Shape 49"/>
          <p:cNvSpPr/>
          <p:nvPr/>
        </p:nvSpPr>
        <p:spPr>
          <a:xfrm>
            <a:off x="9079992" y="4361688"/>
            <a:ext cx="3044952" cy="1709928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5" name="Shape 50"/>
          <p:cNvSpPr/>
          <p:nvPr/>
        </p:nvSpPr>
        <p:spPr>
          <a:xfrm>
            <a:off x="9308592" y="4590288"/>
            <a:ext cx="548640" cy="548640"/>
          </a:xfrm>
          <a:prstGeom prst="ellipse">
            <a:avLst/>
          </a:prstGeom>
          <a:solidFill>
            <a:srgbClr val="E8B339"/>
          </a:solidFill>
          <a:ln/>
        </p:spPr>
      </p:sp>
      <p:pic>
        <p:nvPicPr>
          <p:cNvPr id="56" name="Image 3" descr="img/g_db_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7464" y="4709160"/>
            <a:ext cx="310896" cy="310896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9994392" y="461772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/ disque</a:t>
            </a:r>
            <a:endParaRPr lang="en-US" sz="1350"/>
          </a:p>
        </p:txBody>
      </p:sp>
      <p:sp>
        <p:nvSpPr>
          <p:cNvPr id="58" name="Shape 52"/>
          <p:cNvSpPr/>
          <p:nvPr/>
        </p:nvSpPr>
        <p:spPr>
          <a:xfrm>
            <a:off x="9308592" y="5276088"/>
            <a:ext cx="146304" cy="146304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59" name="Text 53"/>
          <p:cNvSpPr/>
          <p:nvPr/>
        </p:nvSpPr>
        <p:spPr>
          <a:xfrm>
            <a:off x="9537192" y="5212080"/>
            <a:ext cx="2404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 </a:t>
            </a:r>
            <a:r>
              <a:rPr lang="en-US" sz="1150">
                <a:solidFill>
                  <a:srgbClr val="C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80% / 5 min</a:t>
            </a:r>
            <a:endParaRPr lang="en-US" sz="1150"/>
          </a:p>
        </p:txBody>
      </p:sp>
      <p:sp>
        <p:nvSpPr>
          <p:cNvPr id="60" name="Shape 54"/>
          <p:cNvSpPr/>
          <p:nvPr/>
        </p:nvSpPr>
        <p:spPr>
          <a:xfrm>
            <a:off x="9308592" y="5641848"/>
            <a:ext cx="146304" cy="146304"/>
          </a:xfrm>
          <a:prstGeom prst="rect">
            <a:avLst/>
          </a:prstGeom>
          <a:solidFill>
            <a:srgbClr val="E5654B"/>
          </a:solidFill>
          <a:ln/>
        </p:spPr>
      </p:sp>
      <p:sp>
        <p:nvSpPr>
          <p:cNvPr id="61" name="Text 55"/>
          <p:cNvSpPr/>
          <p:nvPr/>
        </p:nvSpPr>
        <p:spPr>
          <a:xfrm>
            <a:off x="9537192" y="5577840"/>
            <a:ext cx="2404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56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</a:t>
            </a:r>
            <a:r>
              <a:rPr lang="en-US" sz="1150">
                <a:solidFill>
                  <a:srgbClr val="C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90% / 5 min</a:t>
            </a:r>
            <a:endParaRPr lang="en-US" sz="1150"/>
          </a:p>
        </p:txBody>
      </p:sp>
      <p:sp>
        <p:nvSpPr>
          <p:cNvPr id="62" name="Text 56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/>
            <a:r>
              <a:rPr lang="en-US" sz="9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07 / 23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SIEM</a:t>
            </a: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8" name="Text 6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F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6339535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26054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05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MÉTRIQUES &amp; SEUILS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457200" y="1243584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Seuils de supervision détaillés (1/4)</a:t>
            </a:r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457200" y="1828800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&amp; santé des conteneurs · Frontend HAProxy</a:t>
            </a:r>
            <a:endParaRPr lang="en-US" sz="1350"/>
          </a:p>
        </p:txBody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Supervision &amp; SIEM · COPROJ 2026</a:t>
            </a:r>
            <a:endParaRPr lang="en-US" sz="95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457200" y="2286000"/>
          <a:ext cx="11277295" cy="3459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7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0F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Métrique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0F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0F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0F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Plateforme &amp; santé des conteneurs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C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Disponibilité conteneur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scrape manquant 1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arrêté ou absent 5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artemis_container_running, up, artmet01p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CPU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80% / 5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90% / 5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artemis_container_cpu_percent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mémoire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80% / 5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90% / 5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artemis_container_memory_percent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I/O bloc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 soutenu inhabituel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ou saturation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artmet01p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Débit réseau anormal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 soutenu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ou perte de paquets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artmet01p, Blackbox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Boucle de redémarrage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 restart / 10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restarts répétés 15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/ cAdvisor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— HAProxy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C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 http_front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UP pendant 1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HAProxy exporter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 serveurs backend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backend down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tous backends down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HAProxy exporter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Sonde HTTP frontend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latence &gt; 500 ms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ou latence &gt; 2 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Blackbox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HTTP 5xx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 req/s / 2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 req/s / 2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HAProxy exporter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HTTP 4xx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 req/s / 5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20 req/s / 5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HAProxy exporter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 actives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70% max sessions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90% max sessions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HAProxy exporter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1" name="Text 56">
            <a:extLst>
              <a:ext uri="{FF2B5EF4-FFF2-40B4-BE49-F238E27FC236}">
                <a16:creationId xmlns:a16="http://schemas.microsoft.com/office/drawing/2014/main" id="{76187BE5-0F22-586E-0307-0DA39E25AB1A}"/>
              </a:ext>
            </a:extLst>
          </p:cNvPr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08 / 23</a:t>
            </a:r>
            <a:r>
              <a:rPr lang="en-US" sz="9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8</a:t>
            </a:r>
            <a:endParaRPr lang="en-US" sz="95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3946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SIEM</a:t>
            </a: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8" name="Text 6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F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6339535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26054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05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MÉTRIQUES &amp; SEUILS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457200" y="1243584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Seuils de supervision détaillés (2/4)</a:t>
            </a:r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457200" y="1828800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Backends web · GLPI · Fichiers &amp; sauvegarde</a:t>
            </a:r>
            <a:endParaRPr lang="en-US" sz="1350"/>
          </a:p>
        </p:txBody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Supervision &amp; SIEM · COPROJ 2026</a:t>
            </a:r>
            <a:endParaRPr lang="en-US" sz="95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025083"/>
              </p:ext>
            </p:extLst>
          </p:nvPr>
        </p:nvGraphicFramePr>
        <p:xfrm>
          <a:off x="457200" y="2087217"/>
          <a:ext cx="11277295" cy="43891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7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0F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Métrique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0F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0F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0F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Backends web — Nginx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C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Disponibilité HTTP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sonde échouée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pendant 1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Blackbox, Nagios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Disponibilité ICMP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perte &gt; 20% ou &gt; 100 ms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perte &gt; 60% ou &gt; 500 ms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Blackbox, Nagios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status Nginx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indispo une fois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indispo pendant 1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 exporter, Nagios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Répartition des requêtes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backend &lt; 30% trafic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backend 0 trafic (UP)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HAProxy exporter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Connexions Nginx actives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100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500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 exporter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GLPI (ITSM)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C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Disponibilité HTTP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une fois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pendant 1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Blackbox, Nagios, Zabbix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Latence HTTP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500 ms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 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Blackbox, Zabbix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TCP 3306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une fois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pendant 1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Blackbox, Nagios, Zabbix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volumes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artemis_volume_filesystem_used_percent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de fichiers &amp; sauvegarde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C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SFTP TCP 22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une fois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pendant 1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Blackbox, Nagios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NFS TCP 2049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une fois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pendant 1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Blackbox, Nagios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 job backup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dernier run échoué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échecs consécutifs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artbkp01p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Fraîcheur backup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succès 30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succès 60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artemis_backup_last_success_*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fichiers copiés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inférieur à l'attendu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zéro fichier copié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artemis_backup_copied_files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stockage backup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artemis_volume_filesystem_used_percent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21" name="Text 56">
            <a:extLst>
              <a:ext uri="{FF2B5EF4-FFF2-40B4-BE49-F238E27FC236}">
                <a16:creationId xmlns:a16="http://schemas.microsoft.com/office/drawing/2014/main" id="{D46AE8A0-C4CB-C1F0-BA22-137DD58C2D0E}"/>
              </a:ext>
            </a:extLst>
          </p:cNvPr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/>
            <a:r>
              <a:rPr lang="en-US" sz="9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09 / 23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0352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SIEM</a:t>
            </a: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8" name="Text 6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F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6339535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26054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05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MÉTRIQUES &amp; SEUILS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457200" y="1243584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Seuils de supervision détaillés (3/4)</a:t>
            </a:r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457200" y="1828800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/ SIEM — collecte, indexation et moteurs</a:t>
            </a:r>
            <a:endParaRPr lang="en-US" sz="1350"/>
          </a:p>
        </p:txBody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Supervision &amp; SIEM · COPROJ 2026</a:t>
            </a:r>
            <a:endParaRPr lang="en-US" sz="95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457200" y="2286000"/>
          <a:ext cx="11277295" cy="2529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7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0F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Métrique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0F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0F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0F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/ SIEM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C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Rsyslog TCP 514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une fois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pendant 1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Blackbox, Nagios, Zabbix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Graylog API :9000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une fois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indispo pendant 1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Blackbox, Nagios, Zabbix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Graylog Syslog :1514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une fois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indispo pendant 1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Blackbox, Nagios, Zabbix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Graylog MongoDB :27017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une fois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indispo pendant 1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Blackbox, Nagios, Zabbix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Graylog OpenSearch :9200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une fois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indispo pendant 1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Blackbox, Nagios, Zabbix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Splunk Web :8000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une fois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indispo pendant 1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Blackbox, Nagios, Zabbix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Splunk HEC :8088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une fois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indispo pendant 1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Blackbox, Nagios, Zabbix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Splunk Syslog :1515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une fois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indispo pendant 1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Blackbox, Nagios, Zabbix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Volumes SIEM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artemis_volume_filesystem_used_percent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1" name="Text 56">
            <a:extLst>
              <a:ext uri="{FF2B5EF4-FFF2-40B4-BE49-F238E27FC236}">
                <a16:creationId xmlns:a16="http://schemas.microsoft.com/office/drawing/2014/main" id="{E6C7A232-A843-BFA4-92FB-120B669B2227}"/>
              </a:ext>
            </a:extLst>
          </p:cNvPr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/>
            <a:r>
              <a:rPr lang="en-US" sz="9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10 / 23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7350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SIEM</a:t>
            </a: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8" name="Text 6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F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6339535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26054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05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MÉTRIQUES &amp; SEUILS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457200" y="1243584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Seuils de supervision détaillés (4/4)</a:t>
            </a:r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457200" y="1828800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données · Stack de supervision · Disque &amp; volumes</a:t>
            </a:r>
            <a:endParaRPr lang="en-US" sz="1350"/>
          </a:p>
        </p:txBody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Supervision &amp; SIEM · COPROJ 2026</a:t>
            </a:r>
            <a:endParaRPr lang="en-US" sz="95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457200" y="2286000"/>
          <a:ext cx="11277295" cy="3703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7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0F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Métrique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0F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0F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0F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Bases de données — PostgreSQL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C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primaire TCP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une fois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pendant 1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Blackbox, Nagios, Zabbix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réplique TCP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une fois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pendant 1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Blackbox, Nagios, Zabbix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Scrape exporter PG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manquant une fois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manquant pendant 5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up, pg_up, Nagios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Activité base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chute / pic soutenu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service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pg_stat_database_*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volume PG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artemis_volume_filesystem_used_percent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de supervision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C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Targets Prometheus up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 down 1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 clé down 5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 UI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sonde TCP échoue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indispo pendant 1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Blackbox, healthcheck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Zabbix web / server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TCP/process échoue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indispo pendant 1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healthcheck, Zabbix, Nagios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Nagios UI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sonde TCP échoue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indispo pendant 1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Blackbox, healthcheck, Zabbix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Scrape métriques Docker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manquant une fois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manquant pendant 5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Disque &amp; capacité des volumes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C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filesystem volume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80% / 5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90% / 5 min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artemis_volume_filesystem_used_percent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Taille données volume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croissance rapide soutenue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E56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 d'épuisement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artemis_volume_used_bytes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21" name="Text 56">
            <a:extLst>
              <a:ext uri="{FF2B5EF4-FFF2-40B4-BE49-F238E27FC236}">
                <a16:creationId xmlns:a16="http://schemas.microsoft.com/office/drawing/2014/main" id="{72C8E99B-1507-58B8-7E9F-E6D5E66F2B21}"/>
              </a:ext>
            </a:extLst>
          </p:cNvPr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/>
            <a:r>
              <a:rPr lang="en-US" sz="9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11  / 23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8125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SIEM</a:t>
            </a: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7" name="Text 5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F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6339535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26054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78992"/>
            <a:ext cx="1005840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B339"/>
                </a:solidFill>
                <a:latin typeface="Calibri"/>
                <a:ea typeface="Calibri"/>
                <a:cs typeface="Calibri"/>
              </a:rPr>
              <a:t>05 · DÉMONSTRATION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1335024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Grafana — métriques temps réel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7954989" y="1871185"/>
            <a:ext cx="3555236" cy="5095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Dashboard « Artemis Supervision » : </a:t>
            </a:r>
            <a:r>
              <a:rPr lang="en-US" sz="1400" err="1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HAProxy</a:t>
            </a:r>
            <a:r>
              <a:rPr lang="en-US" sz="140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, backends, </a:t>
            </a:r>
            <a:r>
              <a:rPr lang="en-US" sz="1400" err="1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trafic</a:t>
            </a:r>
            <a:r>
              <a:rPr lang="en-US" sz="140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 et </a:t>
            </a:r>
            <a:r>
              <a:rPr lang="en-US" sz="1400" err="1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erreurs</a:t>
            </a:r>
            <a:endParaRPr lang="en-US" sz="1400" err="1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Supervision &amp; SIEM · COPROJ 2026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562808" y="1925186"/>
            <a:ext cx="7348111" cy="4392742"/>
          </a:xfrm>
          <a:prstGeom prst="rect">
            <a:avLst/>
          </a:prstGeom>
          <a:solidFill>
            <a:srgbClr val="1A2230"/>
          </a:solidFill>
          <a:ln w="15875">
            <a:solidFill>
              <a:srgbClr val="E8B339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9" name="Image 0" descr="shots/graf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26" y="1987239"/>
            <a:ext cx="7173685" cy="426144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906993" y="5546096"/>
            <a:ext cx="2731081" cy="8134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i="1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Grafana :3000 — frontend HTTP UP, sessions, </a:t>
            </a:r>
            <a:r>
              <a:rPr lang="en-US" sz="1100" i="1" err="1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trafic</a:t>
            </a:r>
            <a:r>
              <a:rPr lang="en-US" sz="1100" i="1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i="1" err="1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HAProxy</a:t>
            </a:r>
            <a:r>
              <a:rPr lang="en-US" sz="1100" i="1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 et </a:t>
            </a:r>
            <a:r>
              <a:rPr lang="en-US" sz="1100" i="1" err="1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répartition</a:t>
            </a:r>
            <a:r>
              <a:rPr lang="en-US" sz="1100" i="1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 vers backends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12 / 23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SIEM</a:t>
            </a: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7" name="Text 5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F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6339535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26054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78992"/>
            <a:ext cx="1005840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B339"/>
                </a:solidFill>
                <a:latin typeface="Calibri"/>
                <a:ea typeface="Calibri"/>
                <a:cs typeface="Calibri"/>
              </a:rPr>
              <a:t>05 · DÉMONSTRATION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1335024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Prometheus &amp; Nagios — collecte et checks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457200" y="19933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scrapées côté Prometheus, statut des services côté Nagios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Supervision &amp; SIEM · COPROJ 2026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02336" y="2682176"/>
            <a:ext cx="5641848" cy="3231008"/>
          </a:xfrm>
          <a:prstGeom prst="rect">
            <a:avLst/>
          </a:prstGeom>
          <a:solidFill>
            <a:srgbClr val="1A2230"/>
          </a:solidFill>
          <a:ln w="15875">
            <a:solidFill>
              <a:srgbClr val="E8B339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9" name="Image 0" descr="shots/promethe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37040"/>
            <a:ext cx="5532120" cy="31212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5968048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— targets UP (backup, blackbox http/ping)</a:t>
            </a:r>
            <a:endParaRPr lang="en-US" sz="1100"/>
          </a:p>
        </p:txBody>
      </p:sp>
      <p:sp>
        <p:nvSpPr>
          <p:cNvPr id="21" name="Shape 18"/>
          <p:cNvSpPr/>
          <p:nvPr/>
        </p:nvSpPr>
        <p:spPr>
          <a:xfrm>
            <a:off x="6144768" y="2554064"/>
            <a:ext cx="5641848" cy="3487233"/>
          </a:xfrm>
          <a:prstGeom prst="rect">
            <a:avLst/>
          </a:prstGeom>
          <a:solidFill>
            <a:srgbClr val="1A2230"/>
          </a:solidFill>
          <a:ln w="15875">
            <a:solidFill>
              <a:srgbClr val="E8B339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2" name="Image 1" descr="shots/nagi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2608928"/>
            <a:ext cx="5532120" cy="337750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199632" y="6096160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Nagios — 24 hôtes UP, 72 services OK</a:t>
            </a:r>
            <a:endParaRPr lang="en-US" sz="1100"/>
          </a:p>
        </p:txBody>
      </p:sp>
      <p:sp>
        <p:nvSpPr>
          <p:cNvPr id="24" name="Text 20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13 / 23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SIEM</a:t>
            </a: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7" name="Text 5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F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6339535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26054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78992"/>
            <a:ext cx="1005840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B339"/>
                </a:solidFill>
                <a:latin typeface="Calibri"/>
                <a:ea typeface="Calibri"/>
                <a:cs typeface="Calibri"/>
              </a:rPr>
              <a:t>05 · DÉMONSTRATION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1335024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Zabbix — supervision unifiée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457200" y="19933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« Artemis Supervision » : vue d'ensemble et onglet SIEM/Logs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Supervision &amp; SIEM · COPROJ 2026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02336" y="2554064"/>
            <a:ext cx="5641848" cy="3487233"/>
          </a:xfrm>
          <a:prstGeom prst="rect">
            <a:avLst/>
          </a:prstGeom>
          <a:solidFill>
            <a:srgbClr val="1A2230"/>
          </a:solidFill>
          <a:ln w="15875">
            <a:solidFill>
              <a:srgbClr val="E8B339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9" name="Image 0" descr="shots/zabbix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08928"/>
            <a:ext cx="5532120" cy="337750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6096160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— problèmes courants, disponibilité des agents, statut HAProxy</a:t>
            </a:r>
            <a:endParaRPr lang="en-US" sz="1100"/>
          </a:p>
        </p:txBody>
      </p:sp>
      <p:sp>
        <p:nvSpPr>
          <p:cNvPr id="21" name="Shape 18"/>
          <p:cNvSpPr/>
          <p:nvPr/>
        </p:nvSpPr>
        <p:spPr>
          <a:xfrm>
            <a:off x="6144768" y="2554064"/>
            <a:ext cx="5641848" cy="3487233"/>
          </a:xfrm>
          <a:prstGeom prst="rect">
            <a:avLst/>
          </a:prstGeom>
          <a:solidFill>
            <a:srgbClr val="1A2230"/>
          </a:solidFill>
          <a:ln w="15875">
            <a:solidFill>
              <a:srgbClr val="E8B339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2" name="Image 1" descr="shots/zabbix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2608928"/>
            <a:ext cx="5532120" cy="337750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199632" y="6096160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/ Logs — Graylog, Splunk, Rsyslog et temps de réponse</a:t>
            </a:r>
            <a:endParaRPr lang="en-US" sz="1100"/>
          </a:p>
        </p:txBody>
      </p:sp>
      <p:sp>
        <p:nvSpPr>
          <p:cNvPr id="24" name="Text 20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/>
            <a:r>
              <a:rPr lang="en-US" sz="9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14 / 23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SIEM</a:t>
            </a: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7" name="Text 5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F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6339535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26054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78992"/>
            <a:ext cx="1005840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B339"/>
                </a:solidFill>
                <a:latin typeface="Calibri"/>
                <a:ea typeface="Calibri"/>
                <a:cs typeface="Calibri"/>
              </a:rPr>
              <a:t>05 · DÉMONSTRATION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1335024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Graylog &amp; Splunk — logs centralisés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457200" y="19933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journaux Docker JSON remontés via Rsyslog vers les deux moteurs SIEM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Supervision &amp; SIEM · COPROJ 2026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02336" y="2549696"/>
            <a:ext cx="5641848" cy="3495968"/>
          </a:xfrm>
          <a:prstGeom prst="rect">
            <a:avLst/>
          </a:prstGeom>
          <a:solidFill>
            <a:srgbClr val="1A2230"/>
          </a:solidFill>
          <a:ln w="15875">
            <a:solidFill>
              <a:srgbClr val="E8B339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9" name="Image 0" descr="shots/gray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04560"/>
            <a:ext cx="5532120" cy="33862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6100528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Graylog :9000 — 1 734 messages, recherche full-text</a:t>
            </a:r>
            <a:endParaRPr lang="en-US" sz="1100"/>
          </a:p>
        </p:txBody>
      </p:sp>
      <p:sp>
        <p:nvSpPr>
          <p:cNvPr id="21" name="Shape 18"/>
          <p:cNvSpPr/>
          <p:nvPr/>
        </p:nvSpPr>
        <p:spPr>
          <a:xfrm>
            <a:off x="6144768" y="2682176"/>
            <a:ext cx="5641848" cy="3231008"/>
          </a:xfrm>
          <a:prstGeom prst="rect">
            <a:avLst/>
          </a:prstGeom>
          <a:solidFill>
            <a:srgbClr val="1A2230"/>
          </a:solidFill>
          <a:ln w="15875">
            <a:solidFill>
              <a:srgbClr val="E8B339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2" name="Image 1" descr="shots/splunk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2737040"/>
            <a:ext cx="5532120" cy="31212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199632" y="5968048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— dashboard « Artemis Logs », volume et derniers événements</a:t>
            </a:r>
            <a:endParaRPr lang="en-US" sz="1100"/>
          </a:p>
        </p:txBody>
      </p:sp>
      <p:sp>
        <p:nvSpPr>
          <p:cNvPr id="24" name="Text 20"/>
          <p:cNvSpPr/>
          <p:nvPr/>
        </p:nvSpPr>
        <p:spPr>
          <a:xfrm>
            <a:off x="10373938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15 / 23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SIEM</a:t>
            </a: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7" name="Text 5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F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6339535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26054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78992"/>
            <a:ext cx="1005840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B339"/>
                </a:solidFill>
                <a:latin typeface="Calibri"/>
                <a:ea typeface="Calibri"/>
                <a:cs typeface="Calibri"/>
              </a:rPr>
              <a:t>05 · DÉMONSTRATION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1335024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GLPI — ITSM et gestion de parc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457200" y="19933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 de gestion de parc et de tickets, intégrée au lab Artemis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Supervision &amp; SIEM · COPROJ 2026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3030448" y="2414016"/>
            <a:ext cx="6100625" cy="3767328"/>
          </a:xfrm>
          <a:prstGeom prst="rect">
            <a:avLst/>
          </a:prstGeom>
          <a:solidFill>
            <a:srgbClr val="1A2230"/>
          </a:solidFill>
          <a:ln w="15875">
            <a:solidFill>
              <a:srgbClr val="E8B339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9" name="Image 0" descr="shots/gl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312" y="2468880"/>
            <a:ext cx="5990897" cy="36576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085312" y="6236208"/>
            <a:ext cx="59908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GLPI :8082 — inventaire, tickets et indicateurs ITSM</a:t>
            </a:r>
            <a:endParaRPr lang="en-US" sz="1100"/>
          </a:p>
        </p:txBody>
      </p:sp>
      <p:sp>
        <p:nvSpPr>
          <p:cNvPr id="21" name="Text 18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16 / 23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SIEM</a:t>
            </a: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7" name="Text 5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F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6339535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26054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78992"/>
            <a:ext cx="1005840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B339"/>
                </a:solidFill>
                <a:latin typeface="Calibri"/>
                <a:ea typeface="Calibri"/>
                <a:cs typeface="Calibri"/>
              </a:rPr>
              <a:t>05 · VALIDATION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1335024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Scénarios de panne rejouables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457200" y="19933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coupe un service, on observe la détection, on restaure — preuve par l'exemple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Supervision &amp; SIEM · COPROJ 2026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5486400" cy="3611880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26700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balancing en action</a:t>
            </a:r>
            <a:endParaRPr lang="en-US" sz="1600"/>
          </a:p>
        </p:txBody>
      </p:sp>
      <p:pic>
        <p:nvPicPr>
          <p:cNvPr id="20" name="Image 0" descr="shots/fron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685" y="3154680"/>
            <a:ext cx="3395429" cy="685800"/>
          </a:xfrm>
          <a:prstGeom prst="rect">
            <a:avLst/>
          </a:prstGeom>
        </p:spPr>
      </p:pic>
      <p:pic>
        <p:nvPicPr>
          <p:cNvPr id="21" name="Image 1" descr="shots/fron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685" y="3977640"/>
            <a:ext cx="3395429" cy="6858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" y="48463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>
                <a:solidFill>
                  <a:srgbClr val="C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 alterne entre artweb01p et artweb02p. À l'arrêt d'un backend, le trafic bascule et l'alerte de disponibilité se déclenche.</a:t>
            </a:r>
            <a:endParaRPr lang="en-US" sz="1300"/>
          </a:p>
        </p:txBody>
      </p:sp>
      <p:sp>
        <p:nvSpPr>
          <p:cNvPr id="23" name="Shape 19"/>
          <p:cNvSpPr/>
          <p:nvPr/>
        </p:nvSpPr>
        <p:spPr>
          <a:xfrm>
            <a:off x="6199632" y="2468880"/>
            <a:ext cx="5532120" cy="3611880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446520" y="2697480"/>
            <a:ext cx="73152" cy="56692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25" name="Text 21"/>
          <p:cNvSpPr/>
          <p:nvPr/>
        </p:nvSpPr>
        <p:spPr>
          <a:xfrm>
            <a:off x="6675120" y="26974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Scénario 1 — Perte d'un backend web</a:t>
            </a:r>
            <a:endParaRPr lang="en-US" sz="1350"/>
          </a:p>
        </p:txBody>
      </p:sp>
      <p:sp>
        <p:nvSpPr>
          <p:cNvPr id="26" name="Text 22"/>
          <p:cNvSpPr/>
          <p:nvPr/>
        </p:nvSpPr>
        <p:spPr>
          <a:xfrm>
            <a:off x="6675120" y="29900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F4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web-down / web-restore</a:t>
            </a:r>
            <a:endParaRPr lang="en-US" sz="1150"/>
          </a:p>
        </p:txBody>
      </p:sp>
      <p:sp>
        <p:nvSpPr>
          <p:cNvPr id="27" name="Shape 23"/>
          <p:cNvSpPr/>
          <p:nvPr/>
        </p:nvSpPr>
        <p:spPr>
          <a:xfrm>
            <a:off x="6446520" y="3355848"/>
            <a:ext cx="73152" cy="56692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28" name="Text 24"/>
          <p:cNvSpPr/>
          <p:nvPr/>
        </p:nvSpPr>
        <p:spPr>
          <a:xfrm>
            <a:off x="6675120" y="335584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Scénario 2 — Perte de la réplique PostgreSQL</a:t>
            </a:r>
            <a:endParaRPr lang="en-US" sz="1350"/>
          </a:p>
        </p:txBody>
      </p:sp>
      <p:sp>
        <p:nvSpPr>
          <p:cNvPr id="29" name="Text 25"/>
          <p:cNvSpPr/>
          <p:nvPr/>
        </p:nvSpPr>
        <p:spPr>
          <a:xfrm>
            <a:off x="6675120" y="36484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F4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db-down / db-restore</a:t>
            </a:r>
            <a:endParaRPr lang="en-US" sz="1150"/>
          </a:p>
        </p:txBody>
      </p:sp>
      <p:sp>
        <p:nvSpPr>
          <p:cNvPr id="30" name="Shape 26"/>
          <p:cNvSpPr/>
          <p:nvPr/>
        </p:nvSpPr>
        <p:spPr>
          <a:xfrm>
            <a:off x="6446520" y="4014216"/>
            <a:ext cx="73152" cy="56692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1" name="Text 27"/>
          <p:cNvSpPr/>
          <p:nvPr/>
        </p:nvSpPr>
        <p:spPr>
          <a:xfrm>
            <a:off x="6675120" y="401421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Scénario 3 — Perte du collecteur Rsyslog</a:t>
            </a:r>
            <a:endParaRPr lang="en-US" sz="1350"/>
          </a:p>
        </p:txBody>
      </p:sp>
      <p:sp>
        <p:nvSpPr>
          <p:cNvPr id="32" name="Text 28"/>
          <p:cNvSpPr/>
          <p:nvPr/>
        </p:nvSpPr>
        <p:spPr>
          <a:xfrm>
            <a:off x="6675120" y="430682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F4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siem-down / siem-restore</a:t>
            </a:r>
            <a:endParaRPr lang="en-US" sz="1150"/>
          </a:p>
        </p:txBody>
      </p:sp>
      <p:sp>
        <p:nvSpPr>
          <p:cNvPr id="35" name="Text 30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17 / 23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SIEM</a:t>
            </a: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9" name="Text 7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F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6339535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26054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335024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 des 5 solutions</a:t>
            </a:r>
            <a:endParaRPr lang="en-US" sz="3000"/>
          </a:p>
        </p:txBody>
      </p:sp>
      <p:sp>
        <p:nvSpPr>
          <p:cNvPr id="15" name="Shape 1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Supervision &amp; SIEM · COPROJ 2026</a:t>
            </a:r>
            <a:endParaRPr lang="en-US" sz="95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11283696" cy="37490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2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2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2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0F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0F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Zabbix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0F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Nagios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0F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/ Grafana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0F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Graylog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0F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Splunk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C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documentée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rapide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Complexe, multi-composants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avancée possible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C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Complets, intégrés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Basiques, imposés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Complets, modulables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Orientés logs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Modulables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Alertes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C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Rapides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Rapides, limitées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Complètes, réactives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Orientées SIEM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Avancées, corrélation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Scalabilité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C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Bonne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Bonne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bonne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des logs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C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Limitée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limitée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Limitée de base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bonne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Prise en main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C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Bonne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Facile, peu moderne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Exigeante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Intuitive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5943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forts différenciants  </a:t>
            </a:r>
            <a:r>
              <a:rPr lang="en-US" sz="120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surlignés — ils fondent la préconisation hybride.</a:t>
            </a:r>
            <a:endParaRPr lang="en-US" sz="1200"/>
          </a:p>
        </p:txBody>
      </p:sp>
      <p:sp>
        <p:nvSpPr>
          <p:cNvPr id="19" name="Text 16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/>
            <a:r>
              <a:rPr lang="en-US" sz="9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18 / 23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3C7F96AD-4CE9-E3D7-2641-ED177BCCCB52}"/>
              </a:ext>
            </a:extLst>
          </p:cNvPr>
          <p:cNvSpPr/>
          <p:nvPr/>
        </p:nvSpPr>
        <p:spPr>
          <a:xfrm>
            <a:off x="457200" y="1078992"/>
            <a:ext cx="1005840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B339"/>
                </a:solidFill>
                <a:latin typeface="Calibri"/>
                <a:ea typeface="Calibri"/>
                <a:cs typeface="Calibri"/>
              </a:rPr>
              <a:t>05 · BENCHMARK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SIEM</a:t>
            </a: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8" name="Text 6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F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6339535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26054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78992"/>
            <a:ext cx="1005840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B339"/>
                </a:solidFill>
                <a:latin typeface="Calibri"/>
                <a:ea typeface="Calibri"/>
                <a:cs typeface="Calibri"/>
              </a:rPr>
              <a:t>06 · PRÉCONISATION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1335024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architecture hybride open-source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457200" y="19933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outil ne couvre seul tous les besoins — on combine métriques et logs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Supervision &amp; SIEM · COPROJ 2026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5349240" cy="2743200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514600"/>
            <a:ext cx="5349240" cy="91440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2788920"/>
            <a:ext cx="822960" cy="822960"/>
          </a:xfrm>
          <a:prstGeom prst="ellipse">
            <a:avLst/>
          </a:prstGeom>
          <a:solidFill>
            <a:srgbClr val="E8B339"/>
          </a:solidFill>
          <a:ln/>
        </p:spPr>
      </p:sp>
      <p:pic>
        <p:nvPicPr>
          <p:cNvPr id="21" name="Image 0" descr="img/g_chart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990088"/>
            <a:ext cx="420624" cy="42062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783080" y="28346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· SOLUTION PRINCIPALE</a:t>
            </a:r>
            <a:endParaRPr lang="en-US" sz="1100"/>
          </a:p>
        </p:txBody>
      </p:sp>
      <p:sp>
        <p:nvSpPr>
          <p:cNvPr id="23" name="Text 20"/>
          <p:cNvSpPr/>
          <p:nvPr/>
        </p:nvSpPr>
        <p:spPr>
          <a:xfrm>
            <a:off x="1783080" y="3108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Prometheus + Grafana</a:t>
            </a:r>
            <a:endParaRPr lang="en-US" sz="1900"/>
          </a:p>
        </p:txBody>
      </p:sp>
      <p:sp>
        <p:nvSpPr>
          <p:cNvPr id="24" name="Text 21"/>
          <p:cNvSpPr/>
          <p:nvPr/>
        </p:nvSpPr>
        <p:spPr>
          <a:xfrm>
            <a:off x="822960" y="3794760"/>
            <a:ext cx="4663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>
                <a:solidFill>
                  <a:srgbClr val="D2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métriques services et conteneurs</a:t>
            </a:r>
            <a:endParaRPr lang="en-US" sz="130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>
                <a:solidFill>
                  <a:srgbClr val="D2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dynamiques et modulables</a:t>
            </a:r>
            <a:endParaRPr lang="en-US" sz="130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>
                <a:solidFill>
                  <a:srgbClr val="D2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réactif, excellente scalabilité</a:t>
            </a:r>
            <a:endParaRPr lang="en-US" sz="1300"/>
          </a:p>
        </p:txBody>
      </p:sp>
      <p:sp>
        <p:nvSpPr>
          <p:cNvPr id="25" name="Shape 22"/>
          <p:cNvSpPr/>
          <p:nvPr/>
        </p:nvSpPr>
        <p:spPr>
          <a:xfrm>
            <a:off x="6382512" y="2514600"/>
            <a:ext cx="5349240" cy="2743200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382512" y="2514600"/>
            <a:ext cx="5349240" cy="91440"/>
          </a:xfrm>
          <a:prstGeom prst="rect">
            <a:avLst/>
          </a:prstGeom>
          <a:solidFill>
            <a:srgbClr val="3FB6A8"/>
          </a:solidFill>
          <a:ln/>
        </p:spPr>
      </p:sp>
      <p:sp>
        <p:nvSpPr>
          <p:cNvPr id="27" name="Shape 24"/>
          <p:cNvSpPr/>
          <p:nvPr/>
        </p:nvSpPr>
        <p:spPr>
          <a:xfrm>
            <a:off x="6702552" y="2788920"/>
            <a:ext cx="822960" cy="822960"/>
          </a:xfrm>
          <a:prstGeom prst="ellipse">
            <a:avLst/>
          </a:prstGeom>
          <a:solidFill>
            <a:srgbClr val="3FB6A8"/>
          </a:solidFill>
          <a:ln/>
        </p:spPr>
      </p:sp>
      <p:pic>
        <p:nvPicPr>
          <p:cNvPr id="28" name="Image 1" descr="img/g_search_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990088"/>
            <a:ext cx="420624" cy="42062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708392" y="28346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SIEM</a:t>
            </a:r>
            <a:endParaRPr lang="en-US" sz="1100"/>
          </a:p>
        </p:txBody>
      </p:sp>
      <p:sp>
        <p:nvSpPr>
          <p:cNvPr id="30" name="Text 26"/>
          <p:cNvSpPr/>
          <p:nvPr/>
        </p:nvSpPr>
        <p:spPr>
          <a:xfrm>
            <a:off x="7708392" y="3108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Graylog (via Rsyslog)</a:t>
            </a:r>
            <a:endParaRPr lang="en-US" sz="1900"/>
          </a:p>
        </p:txBody>
      </p:sp>
      <p:sp>
        <p:nvSpPr>
          <p:cNvPr id="31" name="Text 27"/>
          <p:cNvSpPr/>
          <p:nvPr/>
        </p:nvSpPr>
        <p:spPr>
          <a:xfrm>
            <a:off x="6748272" y="3794760"/>
            <a:ext cx="4663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>
                <a:solidFill>
                  <a:srgbClr val="D2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Centralisation des journaux systèmes/applicatifs</a:t>
            </a:r>
            <a:endParaRPr lang="en-US" sz="130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>
                <a:solidFill>
                  <a:srgbClr val="D2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et corrélation des incidents</a:t>
            </a:r>
            <a:endParaRPr lang="en-US" sz="130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>
                <a:solidFill>
                  <a:srgbClr val="D2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 sécurité / SIEM de la zone SOC</a:t>
            </a:r>
            <a:endParaRPr lang="en-US" sz="1300"/>
          </a:p>
        </p:txBody>
      </p:sp>
      <p:sp>
        <p:nvSpPr>
          <p:cNvPr id="32" name="Text 28"/>
          <p:cNvSpPr/>
          <p:nvPr/>
        </p:nvSpPr>
        <p:spPr>
          <a:xfrm>
            <a:off x="5806440" y="36576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3600"/>
          </a:p>
        </p:txBody>
      </p:sp>
      <p:sp>
        <p:nvSpPr>
          <p:cNvPr id="33" name="Shape 29"/>
          <p:cNvSpPr/>
          <p:nvPr/>
        </p:nvSpPr>
        <p:spPr>
          <a:xfrm>
            <a:off x="457200" y="5440680"/>
            <a:ext cx="11277295" cy="713232"/>
          </a:xfrm>
          <a:prstGeom prst="rect">
            <a:avLst/>
          </a:prstGeom>
          <a:solidFill>
            <a:srgbClr val="212C3D"/>
          </a:solidFill>
          <a:ln w="12700">
            <a:solidFill>
              <a:srgbClr val="2A3545"/>
            </a:solidFill>
            <a:prstDash val="solid"/>
          </a:ln>
        </p:spPr>
      </p:sp>
      <p:pic>
        <p:nvPicPr>
          <p:cNvPr id="34" name="Image 2" descr="img/g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5632704"/>
            <a:ext cx="347472" cy="34747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188720" y="5440680"/>
            <a:ext cx="10332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4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open-source. </a:t>
            </a:r>
            <a:r>
              <a:rPr lang="en-US" sz="1350">
                <a:solidFill>
                  <a:srgbClr val="D2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et Nagios complètent le POC en checks actifs ; les éditions Enterprise de Grafana et Graylog apportent support et fonctions avancées.</a:t>
            </a:r>
            <a:endParaRPr lang="en-US" sz="1350"/>
          </a:p>
        </p:txBody>
      </p:sp>
      <p:sp>
        <p:nvSpPr>
          <p:cNvPr id="36" name="Text 31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/>
            <a:r>
              <a:rPr lang="en-US" sz="9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19 / 23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SIEM</a:t>
            </a:r>
            <a:endParaRPr lang="en-US" sz="1250"/>
          </a:p>
        </p:txBody>
      </p:sp>
      <p:sp>
        <p:nvSpPr>
          <p:cNvPr id="5" name="Shape 3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6" name="Text 4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F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6339535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26054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78992"/>
            <a:ext cx="1005840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B339"/>
                </a:solidFill>
                <a:latin typeface="Calibri"/>
                <a:ea typeface="Calibri"/>
                <a:cs typeface="Calibri"/>
              </a:rPr>
              <a:t>07 · BUDGET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1335024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Chiffrage — première année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457200" y="19933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détaillée : logiciel, ressources humaines et accompagnement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Supervision &amp; SIEM · COPROJ 2026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3712464" cy="1417320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514600"/>
            <a:ext cx="3712464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63347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185 900 €</a:t>
            </a:r>
            <a:endParaRPr lang="en-US" sz="300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première année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34930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 de mise en place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4261104" y="2514600"/>
            <a:ext cx="3712464" cy="1417320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61104" y="2514600"/>
            <a:ext cx="3712464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25" name="Text 23"/>
          <p:cNvSpPr/>
          <p:nvPr/>
        </p:nvSpPr>
        <p:spPr>
          <a:xfrm>
            <a:off x="4535424" y="263347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40 000 €</a:t>
            </a:r>
            <a:endParaRPr lang="en-US" sz="3000"/>
          </a:p>
        </p:txBody>
      </p:sp>
      <p:sp>
        <p:nvSpPr>
          <p:cNvPr id="26" name="Text 24"/>
          <p:cNvSpPr/>
          <p:nvPr/>
        </p:nvSpPr>
        <p:spPr>
          <a:xfrm>
            <a:off x="4535424" y="32004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 Enterprise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4535424" y="34930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25 k€ + Graylog 15 k€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8065008" y="2514600"/>
            <a:ext cx="3712464" cy="1417320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65008" y="2514600"/>
            <a:ext cx="3712464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0" name="Text 28"/>
          <p:cNvSpPr/>
          <p:nvPr/>
        </p:nvSpPr>
        <p:spPr>
          <a:xfrm>
            <a:off x="8339328" y="263347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89 000 €</a:t>
            </a:r>
            <a:endParaRPr lang="en-US" sz="3000"/>
          </a:p>
        </p:txBody>
      </p:sp>
      <p:sp>
        <p:nvSpPr>
          <p:cNvPr id="31" name="Text 29"/>
          <p:cNvSpPr/>
          <p:nvPr/>
        </p:nvSpPr>
        <p:spPr>
          <a:xfrm>
            <a:off x="8339328" y="32004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humaines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8339328" y="34930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projet, équipe IT, formation</a:t>
            </a:r>
            <a:endParaRPr lang="en-US" sz="1050"/>
          </a:p>
        </p:txBody>
      </p:sp>
      <p:sp>
        <p:nvSpPr>
          <p:cNvPr id="33" name="Shape 31"/>
          <p:cNvSpPr/>
          <p:nvPr/>
        </p:nvSpPr>
        <p:spPr>
          <a:xfrm>
            <a:off x="457200" y="4160520"/>
            <a:ext cx="6766560" cy="1965960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5800" y="42793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des postes — année 1</a:t>
            </a:r>
            <a:endParaRPr lang="en-US" sz="130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617720"/>
          <a:ext cx="6492240" cy="166116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 de dépense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C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C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 de dépense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C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C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Licences Prometheus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technique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4 000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 Grafana Enterprise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25 000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 &amp; rétention logs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10 000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 Graylog Enterprise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15 000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&amp; maintenance initiale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20 000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Chef de projet (2 mois)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24 000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réseau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6 000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Équipe IT (2 mois)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60 000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 d'imprévus (10%)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16 900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Formation utilisateurs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année 1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185 900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" name="Shape 33"/>
          <p:cNvSpPr/>
          <p:nvPr/>
        </p:nvSpPr>
        <p:spPr>
          <a:xfrm>
            <a:off x="7406640" y="4160520"/>
            <a:ext cx="4325112" cy="1965960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7635240" y="42793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Macro-planning</a:t>
            </a:r>
            <a:endParaRPr lang="en-US" sz="1300"/>
          </a:p>
        </p:txBody>
      </p:sp>
      <p:sp>
        <p:nvSpPr>
          <p:cNvPr id="38" name="Shape 35"/>
          <p:cNvSpPr/>
          <p:nvPr/>
        </p:nvSpPr>
        <p:spPr>
          <a:xfrm>
            <a:off x="7772400" y="4754880"/>
            <a:ext cx="0" cy="1188720"/>
          </a:xfrm>
          <a:prstGeom prst="line">
            <a:avLst/>
          </a:prstGeom>
          <a:noFill/>
          <a:ln w="25400">
            <a:solidFill>
              <a:srgbClr val="2A3545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680960" y="4681728"/>
            <a:ext cx="182880" cy="182880"/>
          </a:xfrm>
          <a:prstGeom prst="ellipse">
            <a:avLst/>
          </a:prstGeom>
          <a:solidFill>
            <a:srgbClr val="E8B339"/>
          </a:solidFill>
          <a:ln w="19050">
            <a:solidFill>
              <a:srgbClr val="0F141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046720" y="46268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2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besoins</a:t>
            </a:r>
            <a:endParaRPr lang="en-US" sz="1200"/>
          </a:p>
        </p:txBody>
      </p:sp>
      <p:sp>
        <p:nvSpPr>
          <p:cNvPr id="41" name="Shape 38"/>
          <p:cNvSpPr/>
          <p:nvPr/>
        </p:nvSpPr>
        <p:spPr>
          <a:xfrm>
            <a:off x="7680960" y="4983480"/>
            <a:ext cx="182880" cy="182880"/>
          </a:xfrm>
          <a:prstGeom prst="ellipse">
            <a:avLst/>
          </a:prstGeom>
          <a:solidFill>
            <a:srgbClr val="E8B339"/>
          </a:solidFill>
          <a:ln w="19050">
            <a:solidFill>
              <a:srgbClr val="0F141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046720" y="49286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2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des outils</a:t>
            </a:r>
            <a:endParaRPr lang="en-US" sz="1200"/>
          </a:p>
        </p:txBody>
      </p:sp>
      <p:sp>
        <p:nvSpPr>
          <p:cNvPr id="43" name="Shape 40"/>
          <p:cNvSpPr/>
          <p:nvPr/>
        </p:nvSpPr>
        <p:spPr>
          <a:xfrm>
            <a:off x="7680960" y="5285232"/>
            <a:ext cx="182880" cy="182880"/>
          </a:xfrm>
          <a:prstGeom prst="ellipse">
            <a:avLst/>
          </a:prstGeom>
          <a:solidFill>
            <a:srgbClr val="E8B339"/>
          </a:solidFill>
          <a:ln w="19050">
            <a:solidFill>
              <a:srgbClr val="0F141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046720" y="52303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2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&amp; POC</a:t>
            </a:r>
            <a:endParaRPr lang="en-US" sz="1200"/>
          </a:p>
        </p:txBody>
      </p:sp>
      <p:sp>
        <p:nvSpPr>
          <p:cNvPr id="45" name="Shape 42"/>
          <p:cNvSpPr/>
          <p:nvPr/>
        </p:nvSpPr>
        <p:spPr>
          <a:xfrm>
            <a:off x="7680960" y="5586984"/>
            <a:ext cx="182880" cy="182880"/>
          </a:xfrm>
          <a:prstGeom prst="ellipse">
            <a:avLst/>
          </a:prstGeom>
          <a:solidFill>
            <a:srgbClr val="3FB6A8"/>
          </a:solidFill>
          <a:ln w="19050">
            <a:solidFill>
              <a:srgbClr val="0F141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046720" y="55321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2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&amp; dashboards</a:t>
            </a:r>
            <a:endParaRPr lang="en-US" sz="1200"/>
          </a:p>
        </p:txBody>
      </p:sp>
      <p:sp>
        <p:nvSpPr>
          <p:cNvPr id="47" name="Shape 44"/>
          <p:cNvSpPr/>
          <p:nvPr/>
        </p:nvSpPr>
        <p:spPr>
          <a:xfrm>
            <a:off x="7680960" y="5888736"/>
            <a:ext cx="182880" cy="182880"/>
          </a:xfrm>
          <a:prstGeom prst="ellipse">
            <a:avLst/>
          </a:prstGeom>
          <a:solidFill>
            <a:srgbClr val="3FB6A8"/>
          </a:solidFill>
          <a:ln w="19050">
            <a:solidFill>
              <a:srgbClr val="0F141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046720" y="58338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2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&amp; restitution</a:t>
            </a:r>
            <a:endParaRPr lang="en-US" sz="1200"/>
          </a:p>
        </p:txBody>
      </p:sp>
      <p:sp>
        <p:nvSpPr>
          <p:cNvPr id="49" name="Text 46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/>
            <a:r>
              <a:rPr lang="en-US" sz="9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20 / 23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SIEM</a:t>
            </a:r>
            <a:endParaRPr lang="en-US" sz="1250"/>
          </a:p>
        </p:txBody>
      </p:sp>
      <p:sp>
        <p:nvSpPr>
          <p:cNvPr id="5" name="Shape 3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6" name="Text 4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F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6339535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26054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78992"/>
            <a:ext cx="1005840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B339"/>
                </a:solidFill>
                <a:latin typeface="Calibri"/>
                <a:ea typeface="Calibri"/>
                <a:cs typeface="Calibri"/>
              </a:rPr>
              <a:t>07 · BUDGET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1335024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Coûts récurrents &amp; comparaison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457200" y="19933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annuel d'exploitation après la mise en place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Supervision &amp; SIEM · COPROJ 2026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5577840" cy="3611880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2743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1 vs récurrent annuel</a:t>
            </a:r>
            <a:endParaRPr lang="en-US" sz="1400"/>
          </a:p>
        </p:txBody>
      </p:sp>
      <p:graphicFrame>
        <p:nvGraphicFramePr>
          <p:cNvPr id="20" name="Chart 0"/>
          <p:cNvGraphicFramePr/>
          <p:nvPr/>
        </p:nvGraphicFramePr>
        <p:xfrm>
          <a:off x="640080" y="3200400"/>
          <a:ext cx="5120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6172200" y="2514600"/>
            <a:ext cx="5559552" cy="3611880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46520" y="2743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des coûts récurrents annuels</a:t>
            </a:r>
            <a:endParaRPr lang="en-US" sz="140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200400"/>
          <a:ext cx="5074920" cy="2322576"/>
        </p:xfrm>
        <a:graphic>
          <a:graphicData uri="http://schemas.openxmlformats.org/drawingml/2006/table">
            <a:tbl>
              <a:tblPr/>
              <a:tblGrid>
                <a:gridCol w="36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 récurrent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C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/ an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C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 Grafana Enterprise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25 000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 Graylog Enterprise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15 000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&amp; support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12 000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 &amp; archivage logs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10 000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exploitation supervision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EA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18 000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annuel récurrent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rgbClr val="F4C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70 000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446520" y="56509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noter : </a:t>
            </a:r>
            <a:r>
              <a:rPr lang="en-US" sz="1050">
                <a:solidFill>
                  <a:srgbClr val="C8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éditions Enterprise de Grafana et Graylog sont retenues pour le support et les fonctions avancées ; Prometheus, Zabbix et Nagios restent sans licence.</a:t>
            </a:r>
            <a:endParaRPr lang="en-US" sz="1050"/>
          </a:p>
        </p:txBody>
      </p:sp>
      <p:sp>
        <p:nvSpPr>
          <p:cNvPr id="25" name="Text 21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/>
            <a:r>
              <a:rPr lang="en-US" sz="9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21 / 23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SIEM</a:t>
            </a:r>
            <a:endParaRPr lang="en-US" sz="1250"/>
          </a:p>
        </p:txBody>
      </p:sp>
      <p:sp>
        <p:nvSpPr>
          <p:cNvPr id="5" name="Shape 3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6" name="Text 4"/>
          <p:cNvSpPr/>
          <p:nvPr/>
        </p:nvSpPr>
        <p:spPr>
          <a:xfrm>
            <a:off x="1065550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F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9576511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8497519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7418527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6339535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260543" y="32918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78992"/>
            <a:ext cx="1005840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B339"/>
                </a:solidFill>
                <a:latin typeface="Calibri"/>
                <a:ea typeface="Calibri"/>
                <a:cs typeface="Calibri"/>
              </a:rPr>
              <a:t>07 · RÉCAPITULATIF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1335024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nous avons mis en place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457200" y="19933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infrastructure de supervision complète, démontrée et reproductible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· Supervision &amp; SIEM · COPROJ 2026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2798064" cy="2194560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2743200"/>
            <a:ext cx="731520" cy="731520"/>
          </a:xfrm>
          <a:prstGeom prst="ellipse">
            <a:avLst/>
          </a:prstGeom>
          <a:solidFill>
            <a:srgbClr val="E8B339"/>
          </a:solidFill>
          <a:ln/>
        </p:spPr>
      </p:sp>
      <p:pic>
        <p:nvPicPr>
          <p:cNvPr id="20" name="Image 0" descr="img/g_docker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907792"/>
            <a:ext cx="402336" cy="40233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31520" y="3611880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/>
          </a:p>
        </p:txBody>
      </p:sp>
      <p:sp>
        <p:nvSpPr>
          <p:cNvPr id="22" name="Text 19"/>
          <p:cNvSpPr/>
          <p:nvPr/>
        </p:nvSpPr>
        <p:spPr>
          <a:xfrm>
            <a:off x="731520" y="4160520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Superviseurs comparés</a:t>
            </a:r>
            <a:endParaRPr lang="en-US" sz="1300"/>
          </a:p>
        </p:txBody>
      </p:sp>
      <p:sp>
        <p:nvSpPr>
          <p:cNvPr id="23" name="Text 20"/>
          <p:cNvSpPr/>
          <p:nvPr/>
        </p:nvSpPr>
        <p:spPr>
          <a:xfrm>
            <a:off x="731520" y="443484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 même lab Docker</a:t>
            </a:r>
            <a:endParaRPr lang="en-US" sz="1050"/>
          </a:p>
        </p:txBody>
      </p:sp>
      <p:sp>
        <p:nvSpPr>
          <p:cNvPr id="24" name="Shape 21"/>
          <p:cNvSpPr/>
          <p:nvPr/>
        </p:nvSpPr>
        <p:spPr>
          <a:xfrm>
            <a:off x="3319272" y="2514600"/>
            <a:ext cx="2798064" cy="2194560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593592" y="2743200"/>
            <a:ext cx="731520" cy="731520"/>
          </a:xfrm>
          <a:prstGeom prst="ellipse">
            <a:avLst/>
          </a:prstGeom>
          <a:solidFill>
            <a:srgbClr val="E8B339"/>
          </a:solidFill>
          <a:ln/>
        </p:spPr>
      </p:sp>
      <p:pic>
        <p:nvPicPr>
          <p:cNvPr id="26" name="Image 1" descr="img/g_chart_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2907792"/>
            <a:ext cx="402336" cy="40233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593592" y="3611880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/>
          </a:p>
        </p:txBody>
      </p:sp>
      <p:sp>
        <p:nvSpPr>
          <p:cNvPr id="28" name="Text 24"/>
          <p:cNvSpPr/>
          <p:nvPr/>
        </p:nvSpPr>
        <p:spPr>
          <a:xfrm>
            <a:off x="3593592" y="4160520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retenues</a:t>
            </a:r>
            <a:endParaRPr lang="en-US" sz="1300"/>
          </a:p>
        </p:txBody>
      </p:sp>
      <p:sp>
        <p:nvSpPr>
          <p:cNvPr id="29" name="Text 25"/>
          <p:cNvSpPr/>
          <p:nvPr/>
        </p:nvSpPr>
        <p:spPr>
          <a:xfrm>
            <a:off x="3593592" y="443484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Prometheus/Grafana + Graylog</a:t>
            </a:r>
            <a:endParaRPr lang="en-US" sz="1050"/>
          </a:p>
        </p:txBody>
      </p:sp>
      <p:sp>
        <p:nvSpPr>
          <p:cNvPr id="30" name="Shape 26"/>
          <p:cNvSpPr/>
          <p:nvPr/>
        </p:nvSpPr>
        <p:spPr>
          <a:xfrm>
            <a:off x="6181344" y="2514600"/>
            <a:ext cx="2798064" cy="2194560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455664" y="2743200"/>
            <a:ext cx="731520" cy="731520"/>
          </a:xfrm>
          <a:prstGeom prst="ellipse">
            <a:avLst/>
          </a:prstGeom>
          <a:solidFill>
            <a:srgbClr val="E8B339"/>
          </a:solidFill>
          <a:ln/>
        </p:spPr>
      </p:sp>
      <p:pic>
        <p:nvPicPr>
          <p:cNvPr id="32" name="Image 2" descr="img/g_check_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907792"/>
            <a:ext cx="402336" cy="40233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55664" y="3611880"/>
            <a:ext cx="2249424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8B339"/>
                </a:solidFill>
                <a:latin typeface="Georgia"/>
              </a:rPr>
              <a:t>1</a:t>
            </a:r>
            <a:endParaRPr lang="en-US" sz="3000"/>
          </a:p>
        </p:txBody>
      </p:sp>
      <p:sp>
        <p:nvSpPr>
          <p:cNvPr id="34" name="Text 29"/>
          <p:cNvSpPr/>
          <p:nvPr/>
        </p:nvSpPr>
        <p:spPr>
          <a:xfrm>
            <a:off x="6455664" y="4160520"/>
            <a:ext cx="2249424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AEEF4"/>
                </a:solidFill>
                <a:latin typeface="Calibri"/>
                <a:ea typeface="Calibri"/>
                <a:cs typeface="Calibri"/>
              </a:rPr>
              <a:t>Démo live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6455664" y="443484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et scénarios validés</a:t>
            </a:r>
            <a:endParaRPr lang="en-US" sz="1050"/>
          </a:p>
        </p:txBody>
      </p:sp>
      <p:sp>
        <p:nvSpPr>
          <p:cNvPr id="36" name="Shape 31"/>
          <p:cNvSpPr/>
          <p:nvPr/>
        </p:nvSpPr>
        <p:spPr>
          <a:xfrm>
            <a:off x="9043416" y="2514600"/>
            <a:ext cx="2798064" cy="2194560"/>
          </a:xfrm>
          <a:prstGeom prst="rect">
            <a:avLst/>
          </a:prstGeom>
          <a:solidFill>
            <a:srgbClr val="1A2230"/>
          </a:solidFill>
          <a:ln w="12700">
            <a:solidFill>
              <a:srgbClr val="2A3545"/>
            </a:solidFill>
            <a:prstDash val="solid"/>
          </a:ln>
          <a:effectLst>
            <a:outerShdw blurRad="1143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9317736" y="2743200"/>
            <a:ext cx="731520" cy="731520"/>
          </a:xfrm>
          <a:prstGeom prst="ellipse">
            <a:avLst/>
          </a:prstGeom>
          <a:solidFill>
            <a:srgbClr val="E8B339"/>
          </a:solidFill>
          <a:ln/>
        </p:spPr>
      </p:sp>
      <p:pic>
        <p:nvPicPr>
          <p:cNvPr id="38" name="Image 3" descr="img/g_euro_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2328" y="2907792"/>
            <a:ext cx="402336" cy="402336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317736" y="3611880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 k€</a:t>
            </a:r>
            <a:endParaRPr lang="en-US" sz="3000"/>
          </a:p>
        </p:txBody>
      </p:sp>
      <p:sp>
        <p:nvSpPr>
          <p:cNvPr id="40" name="Text 34"/>
          <p:cNvSpPr/>
          <p:nvPr/>
        </p:nvSpPr>
        <p:spPr>
          <a:xfrm>
            <a:off x="9317736" y="4160520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récurrent / an</a:t>
            </a:r>
            <a:endParaRPr lang="en-US" sz="1300"/>
          </a:p>
        </p:txBody>
      </p:sp>
      <p:sp>
        <p:nvSpPr>
          <p:cNvPr id="41" name="Text 35"/>
          <p:cNvSpPr/>
          <p:nvPr/>
        </p:nvSpPr>
        <p:spPr>
          <a:xfrm>
            <a:off x="9317736" y="443484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mise en place</a:t>
            </a:r>
            <a:endParaRPr lang="en-US" sz="1050"/>
          </a:p>
        </p:txBody>
      </p:sp>
      <p:sp>
        <p:nvSpPr>
          <p:cNvPr id="42" name="Shape 36"/>
          <p:cNvSpPr/>
          <p:nvPr/>
        </p:nvSpPr>
        <p:spPr>
          <a:xfrm>
            <a:off x="457200" y="4983480"/>
            <a:ext cx="11277295" cy="960120"/>
          </a:xfrm>
          <a:prstGeom prst="rect">
            <a:avLst/>
          </a:prstGeom>
          <a:solidFill>
            <a:srgbClr val="212C3D"/>
          </a:solidFill>
          <a:ln w="12700">
            <a:solidFill>
              <a:srgbClr val="2A3545"/>
            </a:solidFill>
            <a:prstDash val="solid"/>
          </a:ln>
        </p:spPr>
      </p:sp>
      <p:pic>
        <p:nvPicPr>
          <p:cNvPr id="43" name="Image 4" descr="img/g_ro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230368"/>
            <a:ext cx="457200" cy="45720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1371600" y="4983480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F4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: </a:t>
            </a:r>
            <a:r>
              <a:rPr lang="en-US" sz="1450">
                <a:solidFill>
                  <a:srgbClr val="D2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 POC par Artemis, puis déploiement progressif et formation des équipes IT.</a:t>
            </a:r>
            <a:endParaRPr lang="en-US" sz="1450"/>
          </a:p>
        </p:txBody>
      </p:sp>
      <p:sp>
        <p:nvSpPr>
          <p:cNvPr id="45" name="Text 38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/>
            <a:r>
              <a:rPr lang="en-US" sz="950">
                <a:solidFill>
                  <a:srgbClr val="8A98A8"/>
                </a:solidFill>
                <a:latin typeface="Calibri"/>
                <a:ea typeface="Calibri"/>
                <a:cs typeface="Calibri"/>
              </a:rPr>
              <a:t>22 / 23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Shape 2"/>
          <p:cNvSpPr/>
          <p:nvPr/>
        </p:nvSpPr>
        <p:spPr>
          <a:xfrm>
            <a:off x="5440680" y="1325880"/>
            <a:ext cx="1325880" cy="1325880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5" name="Text 3"/>
          <p:cNvSpPr/>
          <p:nvPr/>
        </p:nvSpPr>
        <p:spPr>
          <a:xfrm>
            <a:off x="5440680" y="132588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>
                <a:solidFill>
                  <a:srgbClr val="0F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640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>
                <a:solidFill>
                  <a:srgbClr val="EA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de votre attention</a:t>
            </a:r>
            <a:endParaRPr lang="en-US" sz="420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800">
              <a:solidFill>
                <a:srgbClr val="E8B339"/>
              </a:solidFill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2194560" y="4663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/>
          </a:p>
        </p:txBody>
      </p:sp>
      <p:sp>
        <p:nvSpPr>
          <p:cNvPr id="9" name="Text 7"/>
          <p:cNvSpPr/>
          <p:nvPr/>
        </p:nvSpPr>
        <p:spPr>
          <a:xfrm>
            <a:off x="2194560" y="5212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RSI couverts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4892040" y="4663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Hybride</a:t>
            </a:r>
            <a:endParaRPr lang="en-US" sz="3000"/>
          </a:p>
        </p:txBody>
      </p:sp>
      <p:sp>
        <p:nvSpPr>
          <p:cNvPr id="11" name="Text 9"/>
          <p:cNvSpPr/>
          <p:nvPr/>
        </p:nvSpPr>
        <p:spPr>
          <a:xfrm>
            <a:off x="4892040" y="5212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+ logs/SIEM</a:t>
            </a:r>
            <a:endParaRPr lang="en-US" sz="1250"/>
          </a:p>
        </p:txBody>
      </p:sp>
      <p:sp>
        <p:nvSpPr>
          <p:cNvPr id="12" name="Text 10"/>
          <p:cNvSpPr/>
          <p:nvPr/>
        </p:nvSpPr>
        <p:spPr>
          <a:xfrm>
            <a:off x="7589520" y="4663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5→2</a:t>
            </a:r>
            <a:endParaRPr lang="en-US" sz="3000"/>
          </a:p>
        </p:txBody>
      </p:sp>
      <p:sp>
        <p:nvSpPr>
          <p:cNvPr id="13" name="Text 11"/>
          <p:cNvSpPr/>
          <p:nvPr/>
        </p:nvSpPr>
        <p:spPr>
          <a:xfrm>
            <a:off x="7589520" y="5212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benchmarkés puis retenus</a:t>
            </a:r>
            <a:endParaRPr lang="en-US" sz="12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23</Slides>
  <Notes>23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4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Supervision &amp; SIEM Artemis</dc:title>
  <dc:subject>PptxGenJS Presentation</dc:subject>
  <dc:creator>Équipe prestataire</dc:creator>
  <cp:revision>249</cp:revision>
  <dcterms:created xsi:type="dcterms:W3CDTF">2026-05-21T13:23:43Z</dcterms:created>
  <dcterms:modified xsi:type="dcterms:W3CDTF">2026-05-22T06:59:39Z</dcterms:modified>
</cp:coreProperties>
</file>